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17"/>
  </p:notesMasterIdLst>
  <p:sldIdLst>
    <p:sldId id="264" r:id="rId2"/>
    <p:sldId id="257" r:id="rId3"/>
    <p:sldId id="281" r:id="rId4"/>
    <p:sldId id="295" r:id="rId5"/>
    <p:sldId id="258" r:id="rId6"/>
    <p:sldId id="294" r:id="rId7"/>
    <p:sldId id="296" r:id="rId8"/>
    <p:sldId id="293" r:id="rId9"/>
    <p:sldId id="289" r:id="rId10"/>
    <p:sldId id="297" r:id="rId11"/>
    <p:sldId id="290" r:id="rId12"/>
    <p:sldId id="291" r:id="rId13"/>
    <p:sldId id="287" r:id="rId14"/>
    <p:sldId id="288" r:id="rId15"/>
    <p:sldId id="2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797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B4B828-3AC8-4755-8604-2617C4DC0BAE}" v="5" dt="2026-03-25T06:24:07.563"/>
    <p1510:client id="{D7763DC5-659C-A34A-A413-E4741D72B1A2}" v="6" dt="2026-03-25T06:17:39.731"/>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p:scale>
          <a:sx n="66" d="100"/>
          <a:sy n="66" d="100"/>
        </p:scale>
        <p:origin x="1330" y="41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4CC260-549D-4F3E-9585-4203C09C0313}" type="doc">
      <dgm:prSet loTypeId="urn:microsoft.com/office/officeart/2005/8/layout/process1" loCatId="process" qsTypeId="urn:microsoft.com/office/officeart/2005/8/quickstyle/simple4" qsCatId="simple" csTypeId="urn:microsoft.com/office/officeart/2005/8/colors/colorful1" csCatId="colorful"/>
      <dgm:spPr/>
      <dgm:t>
        <a:bodyPr/>
        <a:lstStyle/>
        <a:p>
          <a:endParaRPr lang="en-IN"/>
        </a:p>
      </dgm:t>
    </dgm:pt>
    <dgm:pt modelId="{70A8FB29-475A-4737-B182-C39480229AC1}" type="pres">
      <dgm:prSet presAssocID="{AF4CC260-549D-4F3E-9585-4203C09C0313}" presName="Name0" presStyleCnt="0">
        <dgm:presLayoutVars>
          <dgm:dir/>
          <dgm:resizeHandles val="exact"/>
        </dgm:presLayoutVars>
      </dgm:prSet>
      <dgm:spPr/>
    </dgm:pt>
  </dgm:ptLst>
  <dgm:cxnLst>
    <dgm:cxn modelId="{AA5D5E38-8D78-45D7-A039-BA3640C5F182}" type="presOf" srcId="{AF4CC260-549D-4F3E-9585-4203C09C0313}" destId="{70A8FB29-475A-4737-B182-C39480229AC1}"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A9685-11EC-4C5E-B2EA-9FF89C9DC843}"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D526E-ABC6-4B35-90AA-FA409A756865}" type="slidenum">
              <a:rPr lang="en-IN" smtClean="0"/>
              <a:t>‹#›</a:t>
            </a:fld>
            <a:endParaRPr lang="en-IN"/>
          </a:p>
        </p:txBody>
      </p:sp>
    </p:spTree>
    <p:extLst>
      <p:ext uri="{BB962C8B-B14F-4D97-AF65-F5344CB8AC3E}">
        <p14:creationId xmlns:p14="http://schemas.microsoft.com/office/powerpoint/2010/main" val="2951631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99D4-13DA-C53E-0EED-0097F6BC5F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6DC4EC-B599-9FEA-74ED-2D38AC7541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5531AD-E1C6-840F-E397-1EDB5D2A359A}"/>
              </a:ext>
            </a:extLst>
          </p:cNvPr>
          <p:cNvSpPr>
            <a:spLocks noGrp="1"/>
          </p:cNvSpPr>
          <p:nvPr>
            <p:ph type="dt" sz="half" idx="10"/>
          </p:nvPr>
        </p:nvSpPr>
        <p:spPr/>
        <p:txBody>
          <a:bodyPr/>
          <a:lstStyle/>
          <a:p>
            <a:fld id="{86543010-E33B-4FB3-9DC2-37ECA8D58229}" type="datetime1">
              <a:rPr lang="en-US" smtClean="0"/>
              <a:t>3/25/2026</a:t>
            </a:fld>
            <a:endParaRPr lang="en-US"/>
          </a:p>
        </p:txBody>
      </p:sp>
      <p:sp>
        <p:nvSpPr>
          <p:cNvPr id="5" name="Footer Placeholder 4">
            <a:extLst>
              <a:ext uri="{FF2B5EF4-FFF2-40B4-BE49-F238E27FC236}">
                <a16:creationId xmlns:a16="http://schemas.microsoft.com/office/drawing/2014/main" id="{EF0FD031-F806-4EF2-4D91-875E37E11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9C22F7-8ACE-74FF-90E1-320AEC99C64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1897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C33F-0F8B-D37C-CF81-76FE3C2F65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0C1683-6FCB-5EFD-BB97-CCC44586EE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12CEE3-A3BD-804E-586D-6A3204E03039}"/>
              </a:ext>
            </a:extLst>
          </p:cNvPr>
          <p:cNvSpPr>
            <a:spLocks noGrp="1"/>
          </p:cNvSpPr>
          <p:nvPr>
            <p:ph type="dt" sz="half" idx="10"/>
          </p:nvPr>
        </p:nvSpPr>
        <p:spPr/>
        <p:txBody>
          <a:bodyPr/>
          <a:lstStyle/>
          <a:p>
            <a:fld id="{84014242-28C5-4E69-A8B6-033CDCCD5421}" type="datetime1">
              <a:rPr lang="en-US" smtClean="0"/>
              <a:t>3/25/2026</a:t>
            </a:fld>
            <a:endParaRPr lang="en-US"/>
          </a:p>
        </p:txBody>
      </p:sp>
      <p:sp>
        <p:nvSpPr>
          <p:cNvPr id="5" name="Footer Placeholder 4">
            <a:extLst>
              <a:ext uri="{FF2B5EF4-FFF2-40B4-BE49-F238E27FC236}">
                <a16:creationId xmlns:a16="http://schemas.microsoft.com/office/drawing/2014/main" id="{AF1D150A-9889-612E-0020-2B8D51C38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A04D3-60D2-1E2D-2C1A-81EA7DF0755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1480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2B725-D00F-F667-F9BC-0AFCE6AB2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C51C26-823E-4679-F280-083294C039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225E89-6723-28D9-6F31-A9E173DCC097}"/>
              </a:ext>
            </a:extLst>
          </p:cNvPr>
          <p:cNvSpPr>
            <a:spLocks noGrp="1"/>
          </p:cNvSpPr>
          <p:nvPr>
            <p:ph type="dt" sz="half" idx="10"/>
          </p:nvPr>
        </p:nvSpPr>
        <p:spPr/>
        <p:txBody>
          <a:bodyPr/>
          <a:lstStyle/>
          <a:p>
            <a:fld id="{72101C38-64CF-4B83-8F83-374D23B672B3}" type="datetime1">
              <a:rPr lang="en-US" smtClean="0"/>
              <a:t>3/25/2026</a:t>
            </a:fld>
            <a:endParaRPr lang="en-US"/>
          </a:p>
        </p:txBody>
      </p:sp>
      <p:sp>
        <p:nvSpPr>
          <p:cNvPr id="5" name="Footer Placeholder 4">
            <a:extLst>
              <a:ext uri="{FF2B5EF4-FFF2-40B4-BE49-F238E27FC236}">
                <a16:creationId xmlns:a16="http://schemas.microsoft.com/office/drawing/2014/main" id="{10CBF7E6-39C3-ABD5-5446-E25BBF8A3A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568ED-56F8-9836-E4A8-A2087BC5B3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9959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7B0BE-F299-433D-2503-3FA57673A3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EF2C45-F891-810D-2AD9-F175D7CD3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255E7F-44B1-A240-F1FF-1A88ECCFFB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F1A252-2B27-BEEB-0FEE-41EDE1B19037}"/>
              </a:ext>
            </a:extLst>
          </p:cNvPr>
          <p:cNvSpPr>
            <a:spLocks noGrp="1"/>
          </p:cNvSpPr>
          <p:nvPr>
            <p:ph type="dt" sz="half" idx="10"/>
          </p:nvPr>
        </p:nvSpPr>
        <p:spPr/>
        <p:txBody>
          <a:bodyPr/>
          <a:lstStyle/>
          <a:p>
            <a:fld id="{F289FA33-09FF-4DB7-B0A5-7AD6E87B2500}" type="datetime1">
              <a:rPr lang="en-US" smtClean="0"/>
              <a:t>3/25/2026</a:t>
            </a:fld>
            <a:endParaRPr lang="en-US"/>
          </a:p>
        </p:txBody>
      </p:sp>
      <p:sp>
        <p:nvSpPr>
          <p:cNvPr id="6" name="Footer Placeholder 5">
            <a:extLst>
              <a:ext uri="{FF2B5EF4-FFF2-40B4-BE49-F238E27FC236}">
                <a16:creationId xmlns:a16="http://schemas.microsoft.com/office/drawing/2014/main" id="{D1CC2BE7-8679-1941-F43C-2C522B73CF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CA3F51-AB8E-1991-3237-972882CFD07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4333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91FA5-5946-5502-D600-0FD080F21C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0B68CB-8FF9-68C1-3866-6D432EAB7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9FB385-F8D6-8A16-B01C-EA0E1184F8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0EED50-3999-9E46-E0B7-5321BB9FE2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B86C47-F5CF-E9C7-56E8-176C70DEC3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E554CF-F753-6A0D-C5EE-B8D40674672B}"/>
              </a:ext>
            </a:extLst>
          </p:cNvPr>
          <p:cNvSpPr>
            <a:spLocks noGrp="1"/>
          </p:cNvSpPr>
          <p:nvPr>
            <p:ph type="dt" sz="half" idx="10"/>
          </p:nvPr>
        </p:nvSpPr>
        <p:spPr/>
        <p:txBody>
          <a:bodyPr/>
          <a:lstStyle/>
          <a:p>
            <a:fld id="{B87D9D36-2487-4D0C-A4F6-2C24388FFD40}" type="datetime1">
              <a:rPr lang="en-US" smtClean="0"/>
              <a:t>3/25/2026</a:t>
            </a:fld>
            <a:endParaRPr lang="en-US"/>
          </a:p>
        </p:txBody>
      </p:sp>
      <p:sp>
        <p:nvSpPr>
          <p:cNvPr id="8" name="Footer Placeholder 7">
            <a:extLst>
              <a:ext uri="{FF2B5EF4-FFF2-40B4-BE49-F238E27FC236}">
                <a16:creationId xmlns:a16="http://schemas.microsoft.com/office/drawing/2014/main" id="{3BDA395F-3119-D44F-807A-CB943A2DCE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748476-01EC-FE0D-586D-1381F168954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6309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70C18-7AD6-3D8C-0C6A-A672E3D64B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1E7EC7-DDEA-329A-DBED-F01767B55C21}"/>
              </a:ext>
            </a:extLst>
          </p:cNvPr>
          <p:cNvSpPr>
            <a:spLocks noGrp="1"/>
          </p:cNvSpPr>
          <p:nvPr>
            <p:ph type="dt" sz="half" idx="10"/>
          </p:nvPr>
        </p:nvSpPr>
        <p:spPr/>
        <p:txBody>
          <a:bodyPr/>
          <a:lstStyle/>
          <a:p>
            <a:fld id="{E1E2AB17-B3D6-4B59-8D8D-47B7AF5EA7A0}" type="datetime1">
              <a:rPr lang="en-US" smtClean="0"/>
              <a:t>3/25/2026</a:t>
            </a:fld>
            <a:endParaRPr lang="en-US"/>
          </a:p>
        </p:txBody>
      </p:sp>
      <p:sp>
        <p:nvSpPr>
          <p:cNvPr id="4" name="Footer Placeholder 3">
            <a:extLst>
              <a:ext uri="{FF2B5EF4-FFF2-40B4-BE49-F238E27FC236}">
                <a16:creationId xmlns:a16="http://schemas.microsoft.com/office/drawing/2014/main" id="{CBAE44C6-5522-F7A7-2B14-45F176417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C06CB1-2757-A8D5-4706-D54442B6A87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321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6379AB-107A-4B94-5BC2-CCF384E7214E}"/>
              </a:ext>
            </a:extLst>
          </p:cNvPr>
          <p:cNvSpPr>
            <a:spLocks noGrp="1"/>
          </p:cNvSpPr>
          <p:nvPr>
            <p:ph type="dt" sz="half" idx="10"/>
          </p:nvPr>
        </p:nvSpPr>
        <p:spPr/>
        <p:txBody>
          <a:bodyPr/>
          <a:lstStyle/>
          <a:p>
            <a:fld id="{FBA43E89-048A-4162-890B-7643D0E20497}" type="datetime1">
              <a:rPr lang="en-US" smtClean="0"/>
              <a:t>3/25/2026</a:t>
            </a:fld>
            <a:endParaRPr lang="en-US"/>
          </a:p>
        </p:txBody>
      </p:sp>
      <p:sp>
        <p:nvSpPr>
          <p:cNvPr id="3" name="Footer Placeholder 2">
            <a:extLst>
              <a:ext uri="{FF2B5EF4-FFF2-40B4-BE49-F238E27FC236}">
                <a16:creationId xmlns:a16="http://schemas.microsoft.com/office/drawing/2014/main" id="{59C43DEA-AA0F-762C-7910-CC3E6C6BC7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A8B59F-0DD1-6021-E791-042D22D7857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640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2DD66-BE51-1C76-E483-62F5964A7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DFB319-38BB-580E-CD35-1295F0C28E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CE8325-B2E9-D55F-A91F-6265D643C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0F9093-1700-0B8C-ED08-7E5571CDEA9B}"/>
              </a:ext>
            </a:extLst>
          </p:cNvPr>
          <p:cNvSpPr>
            <a:spLocks noGrp="1"/>
          </p:cNvSpPr>
          <p:nvPr>
            <p:ph type="dt" sz="half" idx="10"/>
          </p:nvPr>
        </p:nvSpPr>
        <p:spPr/>
        <p:txBody>
          <a:bodyPr/>
          <a:lstStyle/>
          <a:p>
            <a:fld id="{497F3F86-1D77-41BD-BF16-DC4E0628779A}" type="datetime1">
              <a:rPr lang="en-US" smtClean="0"/>
              <a:t>3/25/2026</a:t>
            </a:fld>
            <a:endParaRPr lang="en-US"/>
          </a:p>
        </p:txBody>
      </p:sp>
      <p:sp>
        <p:nvSpPr>
          <p:cNvPr id="6" name="Footer Placeholder 5">
            <a:extLst>
              <a:ext uri="{FF2B5EF4-FFF2-40B4-BE49-F238E27FC236}">
                <a16:creationId xmlns:a16="http://schemas.microsoft.com/office/drawing/2014/main" id="{0E2DC8A5-475E-CCC0-D759-0277286631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80B844-85C9-32D6-BCC4-50C83182EBB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288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F0BB-6DFF-4ABB-4C26-64611B98C1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CE5951-61BF-AD3B-F9E0-A93B3E5F6E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38CA39-9C07-7A58-92B0-E7F4E0A01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827DE-A69D-B848-0E5B-7F208A9EADEF}"/>
              </a:ext>
            </a:extLst>
          </p:cNvPr>
          <p:cNvSpPr>
            <a:spLocks noGrp="1"/>
          </p:cNvSpPr>
          <p:nvPr>
            <p:ph type="dt" sz="half" idx="10"/>
          </p:nvPr>
        </p:nvSpPr>
        <p:spPr/>
        <p:txBody>
          <a:bodyPr/>
          <a:lstStyle/>
          <a:p>
            <a:fld id="{41D16341-A413-4A11-BD83-F97A9B73E661}" type="datetime1">
              <a:rPr lang="en-US" smtClean="0"/>
              <a:t>3/25/2026</a:t>
            </a:fld>
            <a:endParaRPr lang="en-US"/>
          </a:p>
        </p:txBody>
      </p:sp>
      <p:sp>
        <p:nvSpPr>
          <p:cNvPr id="6" name="Footer Placeholder 5">
            <a:extLst>
              <a:ext uri="{FF2B5EF4-FFF2-40B4-BE49-F238E27FC236}">
                <a16:creationId xmlns:a16="http://schemas.microsoft.com/office/drawing/2014/main" id="{72518BC6-56F6-33CA-14AA-2B652D3DD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FDF2B7-63BA-4F95-6537-CBFB1611C07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5764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D9BC6-8DB9-76BB-BB50-12DC869A36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6110CF-064C-285A-4C95-1BCAF9760B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D75FA3-9152-3054-3601-DD29BBA2DF62}"/>
              </a:ext>
            </a:extLst>
          </p:cNvPr>
          <p:cNvSpPr>
            <a:spLocks noGrp="1"/>
          </p:cNvSpPr>
          <p:nvPr>
            <p:ph type="dt" sz="half" idx="10"/>
          </p:nvPr>
        </p:nvSpPr>
        <p:spPr/>
        <p:txBody>
          <a:bodyPr/>
          <a:lstStyle/>
          <a:p>
            <a:fld id="{147C6D78-4F6C-4C3C-92D8-110B3C26A949}" type="datetime1">
              <a:rPr lang="en-US" smtClean="0"/>
              <a:t>3/25/2026</a:t>
            </a:fld>
            <a:endParaRPr lang="en-US"/>
          </a:p>
        </p:txBody>
      </p:sp>
      <p:sp>
        <p:nvSpPr>
          <p:cNvPr id="5" name="Footer Placeholder 4">
            <a:extLst>
              <a:ext uri="{FF2B5EF4-FFF2-40B4-BE49-F238E27FC236}">
                <a16:creationId xmlns:a16="http://schemas.microsoft.com/office/drawing/2014/main" id="{80112BF3-3AB4-09DC-9824-69FFF4F747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C97CA0-C13F-D369-9E10-F6668F0953D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4251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A44108-B3B8-1798-5355-B53C013BA1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694BFE-8D77-C034-BA7C-04525CE84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7FA74-DD81-6665-B976-427834B1DA5D}"/>
              </a:ext>
            </a:extLst>
          </p:cNvPr>
          <p:cNvSpPr>
            <a:spLocks noGrp="1"/>
          </p:cNvSpPr>
          <p:nvPr>
            <p:ph type="dt" sz="half" idx="10"/>
          </p:nvPr>
        </p:nvSpPr>
        <p:spPr/>
        <p:txBody>
          <a:bodyPr/>
          <a:lstStyle/>
          <a:p>
            <a:fld id="{26F9B733-5979-4C36-989A-C87997A969A6}" type="datetime1">
              <a:rPr lang="en-US" smtClean="0"/>
              <a:t>3/25/2026</a:t>
            </a:fld>
            <a:endParaRPr lang="en-US"/>
          </a:p>
        </p:txBody>
      </p:sp>
      <p:sp>
        <p:nvSpPr>
          <p:cNvPr id="5" name="Footer Placeholder 4">
            <a:extLst>
              <a:ext uri="{FF2B5EF4-FFF2-40B4-BE49-F238E27FC236}">
                <a16:creationId xmlns:a16="http://schemas.microsoft.com/office/drawing/2014/main" id="{A22E3376-1891-511E-9F65-3E5ABA213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66E2B7-5A47-E131-03F3-3B700882EE7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4493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CE97F7-83DC-69AA-36E5-DE5B9B96F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11A250-AF1B-DE00-48ED-EF42BEC0F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969688-33C5-E5F7-2F24-6F3C72B4B9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F7A5FD-0731-4CE6-87EF-11DC0A35C8D6}" type="datetime1">
              <a:rPr lang="en-US" smtClean="0"/>
              <a:t>3/25/2026</a:t>
            </a:fld>
            <a:endParaRPr lang="en-US"/>
          </a:p>
        </p:txBody>
      </p:sp>
      <p:sp>
        <p:nvSpPr>
          <p:cNvPr id="5" name="Footer Placeholder 4">
            <a:extLst>
              <a:ext uri="{FF2B5EF4-FFF2-40B4-BE49-F238E27FC236}">
                <a16:creationId xmlns:a16="http://schemas.microsoft.com/office/drawing/2014/main" id="{4207983A-3AC1-6541-9FEF-2EDC94D8B6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36B186-7778-48B4-D9B0-C18E0AEAF4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2495981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44586" y="3820972"/>
            <a:ext cx="4424157" cy="484749"/>
          </a:xfrm>
        </p:spPr>
        <p:txBody>
          <a:bodyPr vert="horz" lIns="68580" tIns="34290" rIns="68580" bIns="34290" rtlCol="0" anchor="t">
            <a:normAutofit fontScale="85000" lnSpcReduction="20000"/>
          </a:bodyPr>
          <a:lstStyle/>
          <a:p>
            <a:r>
              <a:rPr lang="en-GB" sz="2250" b="1" dirty="0">
                <a:solidFill>
                  <a:schemeClr val="tx1"/>
                </a:solidFill>
                <a:latin typeface="Times New Roman" panose="02020603050405020304" pitchFamily="18" charset="0"/>
                <a:cs typeface="Times New Roman" panose="02020603050405020304" pitchFamily="18" charset="0"/>
              </a:rPr>
              <a:t>Digital Entity Management Methodology for Digital Twin Implementation</a:t>
            </a:r>
          </a:p>
        </p:txBody>
      </p:sp>
      <p:sp>
        <p:nvSpPr>
          <p:cNvPr id="5" name="TextBox 4">
            <a:extLst>
              <a:ext uri="{FF2B5EF4-FFF2-40B4-BE49-F238E27FC236}">
                <a16:creationId xmlns:a16="http://schemas.microsoft.com/office/drawing/2014/main" id="{39C415FD-6F96-9FEB-6B49-71A0617B62F4}"/>
              </a:ext>
            </a:extLst>
          </p:cNvPr>
          <p:cNvSpPr txBox="1"/>
          <p:nvPr/>
        </p:nvSpPr>
        <p:spPr>
          <a:xfrm>
            <a:off x="3107517" y="2458357"/>
            <a:ext cx="5405223" cy="86946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defTabSz="342900"/>
            <a:r>
              <a:rPr lang="en-US" dirty="0">
                <a:solidFill>
                  <a:srgbClr val="000000"/>
                </a:solidFill>
                <a:latin typeface="Times New Roman"/>
                <a:cs typeface="Times New Roman"/>
              </a:rPr>
              <a:t>DEPARTMENT OF INFORMATION TECHNOLOGY </a:t>
            </a:r>
          </a:p>
          <a:p>
            <a:pPr algn="ctr" defTabSz="342900"/>
            <a:r>
              <a:rPr lang="en-US" dirty="0">
                <a:solidFill>
                  <a:srgbClr val="000000"/>
                </a:solidFill>
                <a:latin typeface="Calibri" panose="020F0502020204030204"/>
                <a:ea typeface="Calibri" panose="020F0502020204030204"/>
                <a:cs typeface="Calibri" panose="020F0502020204030204"/>
              </a:rPr>
              <a:t>BE(IT) VIII Sem A.Y: 2025-2026</a:t>
            </a:r>
            <a:endParaRPr lang="en-US" sz="1600" dirty="0">
              <a:solidFill>
                <a:srgbClr val="000000"/>
              </a:solidFill>
              <a:latin typeface="Calibri" panose="020F0502020204030204"/>
            </a:endParaRPr>
          </a:p>
          <a:p>
            <a:pPr algn="ctr" defTabSz="342900"/>
            <a:r>
              <a:rPr lang="en-IN" sz="1600" b="1" dirty="0">
                <a:solidFill>
                  <a:srgbClr val="000000"/>
                </a:solidFill>
                <a:latin typeface="Calibri" panose="020F0502020204030204"/>
              </a:rPr>
              <a:t>Technical Seminar</a:t>
            </a:r>
            <a:endParaRPr lang="en-US" dirty="0">
              <a:solidFill>
                <a:srgbClr val="000000"/>
              </a:solidFill>
              <a:latin typeface="Times New Roman"/>
              <a:cs typeface="Times New Roman"/>
            </a:endParaRPr>
          </a:p>
        </p:txBody>
      </p:sp>
      <p:sp>
        <p:nvSpPr>
          <p:cNvPr id="8" name="TextBox 7">
            <a:extLst>
              <a:ext uri="{FF2B5EF4-FFF2-40B4-BE49-F238E27FC236}">
                <a16:creationId xmlns:a16="http://schemas.microsoft.com/office/drawing/2014/main" id="{3C63CEC8-994A-E1C8-FEED-68AF3E0A603D}"/>
              </a:ext>
            </a:extLst>
          </p:cNvPr>
          <p:cNvSpPr txBox="1"/>
          <p:nvPr/>
        </p:nvSpPr>
        <p:spPr>
          <a:xfrm>
            <a:off x="1122268" y="4749646"/>
            <a:ext cx="2322318" cy="75405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342900"/>
            <a:r>
              <a:rPr lang="en-IN" sz="1500" spc="-8" dirty="0">
                <a:solidFill>
                  <a:srgbClr val="000000"/>
                </a:solidFill>
                <a:latin typeface="Times New Roman" panose="02020603050405020304" pitchFamily="18" charset="0"/>
                <a:cs typeface="Times New Roman" panose="02020603050405020304" pitchFamily="18" charset="0"/>
              </a:rPr>
              <a:t>Guide:</a:t>
            </a:r>
            <a:r>
              <a:rPr lang="en-IN" sz="1500" spc="-15" dirty="0">
                <a:solidFill>
                  <a:srgbClr val="000000"/>
                </a:solidFill>
                <a:latin typeface="Times New Roman" panose="02020603050405020304" pitchFamily="18" charset="0"/>
                <a:cs typeface="Times New Roman" panose="02020603050405020304" pitchFamily="18" charset="0"/>
              </a:rPr>
              <a:t> </a:t>
            </a:r>
          </a:p>
          <a:p>
            <a:pPr defTabSz="342900"/>
            <a:r>
              <a:rPr lang="en-IN" sz="1600" dirty="0">
                <a:latin typeface="Times New Roman" panose="02020603050405020304" pitchFamily="18" charset="0"/>
                <a:cs typeface="Times New Roman" panose="02020603050405020304" pitchFamily="18" charset="0"/>
              </a:rPr>
              <a:t>Dr. Pragati Priyadashinee</a:t>
            </a:r>
            <a:endParaRPr lang="en-IN" sz="1500" dirty="0">
              <a:solidFill>
                <a:srgbClr val="000000"/>
              </a:solidFill>
              <a:latin typeface="Times New Roman" panose="02020603050405020304" pitchFamily="18" charset="0"/>
              <a:cs typeface="Times New Roman" panose="02020603050405020304" pitchFamily="18" charset="0"/>
            </a:endParaRPr>
          </a:p>
          <a:p>
            <a:pPr defTabSz="342900"/>
            <a:r>
              <a:rPr lang="en-IN" sz="1350" dirty="0">
                <a:solidFill>
                  <a:srgbClr val="000000"/>
                </a:solidFill>
                <a:latin typeface="Times New Roman" panose="02020603050405020304" pitchFamily="18" charset="0"/>
                <a:cs typeface="Times New Roman" panose="02020603050405020304" pitchFamily="18" charset="0"/>
              </a:rPr>
              <a:t>Assistant Professor</a:t>
            </a:r>
            <a:r>
              <a:rPr lang="en-IN" sz="1350" dirty="0">
                <a:solidFill>
                  <a:srgbClr val="000000"/>
                </a:solidFill>
                <a:latin typeface="Times New Roman" panose="02020603050405020304" pitchFamily="18" charset="0"/>
                <a:ea typeface="Sitka Heading" pitchFamily="2" charset="0"/>
                <a:cs typeface="Times New Roman" panose="02020603050405020304" pitchFamily="18" charset="0"/>
              </a:rPr>
              <a:t>, IT Dept.</a:t>
            </a:r>
          </a:p>
        </p:txBody>
      </p:sp>
      <p:sp>
        <p:nvSpPr>
          <p:cNvPr id="9" name="TextBox 8">
            <a:extLst>
              <a:ext uri="{FF2B5EF4-FFF2-40B4-BE49-F238E27FC236}">
                <a16:creationId xmlns:a16="http://schemas.microsoft.com/office/drawing/2014/main" id="{2A499709-6057-3F59-2B5E-4196028238DA}"/>
              </a:ext>
            </a:extLst>
          </p:cNvPr>
          <p:cNvSpPr txBox="1"/>
          <p:nvPr/>
        </p:nvSpPr>
        <p:spPr>
          <a:xfrm>
            <a:off x="8132462" y="5101629"/>
            <a:ext cx="3200952" cy="4847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just" defTabSz="342900"/>
            <a:r>
              <a:rPr lang="en-IN" sz="1350" dirty="0">
                <a:solidFill>
                  <a:srgbClr val="000000"/>
                </a:solidFill>
                <a:latin typeface="Times New Roman"/>
                <a:cs typeface="Times New Roman"/>
              </a:rPr>
              <a:t>160122737</a:t>
            </a:r>
            <a:r>
              <a:rPr lang="en-GB" sz="1350" dirty="0">
                <a:solidFill>
                  <a:srgbClr val="000000"/>
                </a:solidFill>
                <a:latin typeface="Times New Roman"/>
                <a:cs typeface="Times New Roman"/>
              </a:rPr>
              <a:t>320</a:t>
            </a:r>
            <a:r>
              <a:rPr lang="en-IN" sz="1350" dirty="0">
                <a:solidFill>
                  <a:srgbClr val="000000"/>
                </a:solidFill>
                <a:latin typeface="Times New Roman"/>
                <a:cs typeface="Times New Roman"/>
              </a:rPr>
              <a:t> : A</a:t>
            </a:r>
            <a:r>
              <a:rPr lang="en-GB" sz="1350" dirty="0" err="1">
                <a:solidFill>
                  <a:srgbClr val="000000"/>
                </a:solidFill>
                <a:latin typeface="Times New Roman"/>
                <a:cs typeface="Times New Roman"/>
              </a:rPr>
              <a:t>llurkar</a:t>
            </a:r>
            <a:r>
              <a:rPr lang="en-GB" sz="1350" dirty="0">
                <a:solidFill>
                  <a:srgbClr val="000000"/>
                </a:solidFill>
                <a:latin typeface="Times New Roman"/>
                <a:cs typeface="Times New Roman"/>
              </a:rPr>
              <a:t> </a:t>
            </a:r>
            <a:r>
              <a:rPr lang="en-GB" sz="1350" dirty="0" err="1">
                <a:solidFill>
                  <a:srgbClr val="000000"/>
                </a:solidFill>
                <a:latin typeface="Times New Roman"/>
                <a:cs typeface="Times New Roman"/>
              </a:rPr>
              <a:t>Sushanth</a:t>
            </a:r>
            <a:endParaRPr lang="en-IN" sz="1350" dirty="0">
              <a:solidFill>
                <a:srgbClr val="000000"/>
              </a:solidFill>
              <a:latin typeface="Times New Roman"/>
              <a:cs typeface="Times New Roman"/>
            </a:endParaRPr>
          </a:p>
          <a:p>
            <a:pPr algn="just" defTabSz="342900"/>
            <a:endParaRPr lang="en-IN" sz="1350" dirty="0">
              <a:solidFill>
                <a:srgbClr val="000000"/>
              </a:solidFill>
              <a:latin typeface="Times New Roman"/>
              <a:cs typeface="Times New Roman"/>
            </a:endParaRPr>
          </a:p>
        </p:txBody>
      </p:sp>
      <p:pic>
        <p:nvPicPr>
          <p:cNvPr id="11" name="Picture 10">
            <a:extLst>
              <a:ext uri="{FF2B5EF4-FFF2-40B4-BE49-F238E27FC236}">
                <a16:creationId xmlns:a16="http://schemas.microsoft.com/office/drawing/2014/main" id="{DF2D2188-FB2C-8F3C-D59F-515FE662686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22268" y="112475"/>
            <a:ext cx="9988318" cy="1681881"/>
          </a:xfrm>
          <a:prstGeom prst="rect">
            <a:avLst/>
          </a:prstGeom>
        </p:spPr>
      </p:pic>
      <p:sp>
        <p:nvSpPr>
          <p:cNvPr id="2" name="Slide Number Placeholder 1">
            <a:extLst>
              <a:ext uri="{FF2B5EF4-FFF2-40B4-BE49-F238E27FC236}">
                <a16:creationId xmlns:a16="http://schemas.microsoft.com/office/drawing/2014/main" id="{81507DAD-8105-2819-8815-A92C11056BE4}"/>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594" y="1345535"/>
            <a:ext cx="3183082" cy="786680"/>
          </a:xfrm>
        </p:spPr>
        <p:txBody>
          <a:bodyPr/>
          <a:lstStyle/>
          <a:p>
            <a:r>
              <a:rPr dirty="0"/>
              <a:t>Abstract</a:t>
            </a:r>
          </a:p>
        </p:txBody>
      </p:sp>
      <p:sp>
        <p:nvSpPr>
          <p:cNvPr id="3" name="Content Placeholder 2"/>
          <p:cNvSpPr>
            <a:spLocks noGrp="1"/>
          </p:cNvSpPr>
          <p:nvPr>
            <p:ph idx="1"/>
          </p:nvPr>
        </p:nvSpPr>
        <p:spPr>
          <a:xfrm>
            <a:off x="662767" y="2132215"/>
            <a:ext cx="10866466" cy="3723062"/>
          </a:xfrm>
        </p:spPr>
        <p:txBody>
          <a:bodyPr>
            <a:noAutofit/>
          </a:bodyPr>
          <a:lstStyle/>
          <a:p>
            <a:pPr marL="0" indent="0" rtl="0">
              <a:buNone/>
            </a:pPr>
            <a:r>
              <a:rPr lang="en-GB" sz="2400" dirty="0"/>
              <a:t>Efforts to reduce costs through simulations have long been a focus in the cyber-physical systems (CPS) and manufacturing domains. Recently, digital twins have emerged as a promising solution for optimizing operations across areas such as smart cities, factory systems, architecture, and industrial processes. However, practical implementation remains challenging, particularly in effectively managing the diverse and complex digital entities within these systems. This limitation hinders scalability and efficient system operation. To address this, the proposed work introduces a class-level digital entity management methodology that structures reusable entities into well-defined classes. By leveraging abstraction, inheritance, and </a:t>
            </a:r>
            <a:r>
              <a:rPr lang="en-GB" sz="2400" dirty="0" err="1"/>
              <a:t>upcasting</a:t>
            </a:r>
            <a:r>
              <a:rPr lang="en-GB" sz="2400" dirty="0"/>
              <a:t>, this approach reduces complexity and enables the scalable and efficient implementation of digital twin systems.</a:t>
            </a:r>
          </a:p>
          <a:p>
            <a:pPr marL="36000" indent="0">
              <a:spcBef>
                <a:spcPts val="600"/>
              </a:spcBef>
              <a:buClr>
                <a:schemeClr val="bg2">
                  <a:lumMod val="50000"/>
                </a:schemeClr>
              </a:buClr>
              <a:buNone/>
            </a:pPr>
            <a:endParaRPr lang="en-US" sz="2000"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F12AED-842C-2537-C996-31B398FFFEE4}"/>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63C19F-5805-B885-25C9-B507D2D9E09D}"/>
              </a:ext>
            </a:extLst>
          </p:cNvPr>
          <p:cNvGraphicFramePr>
            <a:graphicFrameLocks noGrp="1"/>
          </p:cNvGraphicFramePr>
          <p:nvPr>
            <p:extLst>
              <p:ext uri="{D42A27DB-BD31-4B8C-83A1-F6EECF244321}">
                <p14:modId xmlns:p14="http://schemas.microsoft.com/office/powerpoint/2010/main" val="795186750"/>
              </p:ext>
            </p:extLst>
          </p:nvPr>
        </p:nvGraphicFramePr>
        <p:xfrm>
          <a:off x="160734" y="373062"/>
          <a:ext cx="11870531" cy="5553357"/>
        </p:xfrm>
        <a:graphic>
          <a:graphicData uri="http://schemas.openxmlformats.org/drawingml/2006/table">
            <a:tbl>
              <a:tblPr firstRow="1" bandRow="1">
                <a:tableStyleId>{073A0DAA-6AF3-43AB-8588-CEC1D06C72B9}</a:tableStyleId>
              </a:tblPr>
              <a:tblGrid>
                <a:gridCol w="893470">
                  <a:extLst>
                    <a:ext uri="{9D8B030D-6E8A-4147-A177-3AD203B41FA5}">
                      <a16:colId xmlns:a16="http://schemas.microsoft.com/office/drawing/2014/main" val="4002187414"/>
                    </a:ext>
                  </a:extLst>
                </a:gridCol>
                <a:gridCol w="823008">
                  <a:extLst>
                    <a:ext uri="{9D8B030D-6E8A-4147-A177-3AD203B41FA5}">
                      <a16:colId xmlns:a16="http://schemas.microsoft.com/office/drawing/2014/main" val="1544107736"/>
                    </a:ext>
                  </a:extLst>
                </a:gridCol>
                <a:gridCol w="1620773">
                  <a:extLst>
                    <a:ext uri="{9D8B030D-6E8A-4147-A177-3AD203B41FA5}">
                      <a16:colId xmlns:a16="http://schemas.microsoft.com/office/drawing/2014/main" val="4159508952"/>
                    </a:ext>
                  </a:extLst>
                </a:gridCol>
                <a:gridCol w="757281">
                  <a:extLst>
                    <a:ext uri="{9D8B030D-6E8A-4147-A177-3AD203B41FA5}">
                      <a16:colId xmlns:a16="http://schemas.microsoft.com/office/drawing/2014/main" val="410348019"/>
                    </a:ext>
                  </a:extLst>
                </a:gridCol>
                <a:gridCol w="907475">
                  <a:extLst>
                    <a:ext uri="{9D8B030D-6E8A-4147-A177-3AD203B41FA5}">
                      <a16:colId xmlns:a16="http://schemas.microsoft.com/office/drawing/2014/main" val="3689446696"/>
                    </a:ext>
                  </a:extLst>
                </a:gridCol>
                <a:gridCol w="1571742">
                  <a:extLst>
                    <a:ext uri="{9D8B030D-6E8A-4147-A177-3AD203B41FA5}">
                      <a16:colId xmlns:a16="http://schemas.microsoft.com/office/drawing/2014/main" val="807635281"/>
                    </a:ext>
                  </a:extLst>
                </a:gridCol>
                <a:gridCol w="1504643">
                  <a:extLst>
                    <a:ext uri="{9D8B030D-6E8A-4147-A177-3AD203B41FA5}">
                      <a16:colId xmlns:a16="http://schemas.microsoft.com/office/drawing/2014/main" val="867525351"/>
                    </a:ext>
                  </a:extLst>
                </a:gridCol>
                <a:gridCol w="1757098">
                  <a:extLst>
                    <a:ext uri="{9D8B030D-6E8A-4147-A177-3AD203B41FA5}">
                      <a16:colId xmlns:a16="http://schemas.microsoft.com/office/drawing/2014/main" val="2843759493"/>
                    </a:ext>
                  </a:extLst>
                </a:gridCol>
                <a:gridCol w="2035041">
                  <a:extLst>
                    <a:ext uri="{9D8B030D-6E8A-4147-A177-3AD203B41FA5}">
                      <a16:colId xmlns:a16="http://schemas.microsoft.com/office/drawing/2014/main" val="2777382243"/>
                    </a:ext>
                  </a:extLst>
                </a:gridCol>
              </a:tblGrid>
              <a:tr h="460315">
                <a:tc>
                  <a:txBody>
                    <a:bodyPr/>
                    <a:lstStyle/>
                    <a:p>
                      <a:pPr marL="0" algn="l" defTabSz="914400" rtl="0" eaLnBrk="1" latinLnBrk="0" hangingPunct="1">
                        <a:buNone/>
                      </a:pPr>
                      <a:r>
                        <a:rPr lang="en-GB" dirty="0" err="1"/>
                        <a:t>Sl.No</a:t>
                      </a:r>
                      <a:endParaRPr lang="en-GB" sz="18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a:t>Authors</a:t>
                      </a:r>
                      <a:endParaRPr lang="en-GB" sz="18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a:t>Title</a:t>
                      </a:r>
                      <a:endParaRPr lang="en-GB" sz="18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a:t>Type</a:t>
                      </a:r>
                      <a:endParaRPr lang="en-GB" sz="18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dirty="0"/>
                        <a:t>Publication</a:t>
                      </a:r>
                      <a:endParaRPr lang="en-GB" sz="18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dirty="0"/>
                        <a:t>Description</a:t>
                      </a:r>
                      <a:endParaRPr lang="en-GB" sz="1800" b="1"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dirty="0"/>
                        <a:t>Outcome</a:t>
                      </a:r>
                      <a:endParaRPr lang="en-GB" sz="18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a:t>Limitation</a:t>
                      </a:r>
                      <a:endParaRPr lang="en-GB" sz="18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a:t>Link</a:t>
                      </a:r>
                      <a:endParaRPr lang="en-GB" sz="1800" kern="1200">
                        <a:solidFill>
                          <a:schemeClr val="dk1"/>
                        </a:solidFill>
                        <a:latin typeface="+mn-lt"/>
                        <a:ea typeface="+mn-ea"/>
                        <a:cs typeface="+mn-cs"/>
                      </a:endParaRPr>
                    </a:p>
                  </a:txBody>
                  <a:tcPr anchor="ctr"/>
                </a:tc>
                <a:extLst>
                  <a:ext uri="{0D108BD9-81ED-4DB2-BD59-A6C34878D82A}">
                    <a16:rowId xmlns:a16="http://schemas.microsoft.com/office/drawing/2014/main" val="3823753664"/>
                  </a:ext>
                </a:extLst>
              </a:tr>
              <a:tr h="1107677">
                <a:tc>
                  <a:txBody>
                    <a:bodyPr/>
                    <a:lstStyle/>
                    <a:p>
                      <a:pPr marL="0" algn="l" defTabSz="914400" rtl="0" eaLnBrk="1" latinLnBrk="0" hangingPunct="1">
                        <a:buNone/>
                      </a:pPr>
                      <a:r>
                        <a:rPr lang="en-GB" sz="1000" dirty="0"/>
                        <a:t>1</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D.-Y. </a:t>
                      </a:r>
                      <a:r>
                        <a:rPr lang="en-GB" sz="1000" dirty="0" err="1"/>
                        <a:t>Jeong</a:t>
                      </a:r>
                      <a:r>
                        <a:rPr lang="en-GB" sz="1000" dirty="0"/>
                        <a:t> et 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Digital twin: Technology evolution stages and implementation layers with technology elements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Journal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IEEE Access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Investigates the evolution stages and implementation layers of digital twin technology.</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Identifies five distinct evolution stages of digital twins, from basic mirroring to autonomous optimization.</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Implementing a digital twin is still a challenging task as the technology remains in early development stages.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10.1109/ACCESS.2022.3174220</a:t>
                      </a:r>
                      <a:endParaRPr lang="en-GB" sz="1000" kern="1200" dirty="0">
                        <a:solidFill>
                          <a:schemeClr val="dk1"/>
                        </a:solidFill>
                        <a:latin typeface="+mn-lt"/>
                        <a:ea typeface="+mn-ea"/>
                        <a:cs typeface="+mn-cs"/>
                      </a:endParaRPr>
                    </a:p>
                  </a:txBody>
                  <a:tcPr anchor="ctr"/>
                </a:tc>
                <a:extLst>
                  <a:ext uri="{0D108BD9-81ED-4DB2-BD59-A6C34878D82A}">
                    <a16:rowId xmlns:a16="http://schemas.microsoft.com/office/drawing/2014/main" val="484389065"/>
                  </a:ext>
                </a:extLst>
              </a:tr>
              <a:tr h="939846">
                <a:tc>
                  <a:txBody>
                    <a:bodyPr/>
                    <a:lstStyle/>
                    <a:p>
                      <a:pPr marL="0" algn="l" defTabSz="914400" rtl="0" eaLnBrk="1" latinLnBrk="0" hangingPunct="1">
                        <a:buNone/>
                      </a:pPr>
                      <a:r>
                        <a:rPr lang="en-GB" sz="1000" dirty="0"/>
                        <a:t>2</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S. Mihai et 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Digital twins: A survey on enabling technologies, challenges, trends and future prospects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Journal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IEEE Communications Surveys &amp; Tutorials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Surveys enabling technologies, future prospects, and challenges for digital twins.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Demonstrates how digital twins can simulate situations for cost reduction and system optimization.</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Highlights a general lack of consensus on the nature of a digital twin and its core components.</a:t>
                      </a:r>
                      <a:endParaRPr lang="en-GB" sz="1000" kern="1200" dirty="0">
                        <a:solidFill>
                          <a:schemeClr val="dk1"/>
                        </a:solidFill>
                        <a:highlight>
                          <a:srgbClr val="00FFFF"/>
                        </a:highlight>
                        <a:latin typeface="+mn-lt"/>
                        <a:ea typeface="+mn-ea"/>
                        <a:cs typeface="+mn-cs"/>
                      </a:endParaRPr>
                    </a:p>
                  </a:txBody>
                  <a:tcPr anchor="ctr"/>
                </a:tc>
                <a:tc>
                  <a:txBody>
                    <a:bodyPr/>
                    <a:lstStyle/>
                    <a:p>
                      <a:pPr marL="0" algn="l" defTabSz="914400" rtl="0" eaLnBrk="1" latinLnBrk="0" hangingPunct="1">
                        <a:buNone/>
                      </a:pPr>
                      <a:r>
                        <a:rPr lang="en-GB" sz="1000" dirty="0"/>
                        <a:t>10.1109/COMST.2022.3208773</a:t>
                      </a:r>
                      <a:endParaRPr lang="en-GB" sz="1000" kern="1200" dirty="0">
                        <a:solidFill>
                          <a:schemeClr val="dk1"/>
                        </a:solidFill>
                        <a:latin typeface="+mn-lt"/>
                        <a:ea typeface="+mn-ea"/>
                        <a:cs typeface="+mn-cs"/>
                      </a:endParaRPr>
                    </a:p>
                  </a:txBody>
                  <a:tcPr anchor="ctr"/>
                </a:tc>
                <a:extLst>
                  <a:ext uri="{0D108BD9-81ED-4DB2-BD59-A6C34878D82A}">
                    <a16:rowId xmlns:a16="http://schemas.microsoft.com/office/drawing/2014/main" val="2146968448"/>
                  </a:ext>
                </a:extLst>
              </a:tr>
              <a:tr h="1107677">
                <a:tc>
                  <a:txBody>
                    <a:bodyPr/>
                    <a:lstStyle/>
                    <a:p>
                      <a:pPr marL="0" algn="l" defTabSz="914400" rtl="0" eaLnBrk="1" latinLnBrk="0" hangingPunct="1">
                        <a:buNone/>
                      </a:pPr>
                      <a:r>
                        <a:rPr lang="en-GB" sz="1000" dirty="0"/>
                        <a:t>3</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 Guo et 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Synchronization of shop-floor logistics and manufacturing under </a:t>
                      </a:r>
                      <a:r>
                        <a:rPr lang="en-GB" sz="1000" dirty="0" err="1"/>
                        <a:t>IIoT</a:t>
                      </a:r>
                      <a:r>
                        <a:rPr lang="en-GB" sz="1000" dirty="0"/>
                        <a:t> and digital twin-enabled graduation intelligent manufacturing system</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Journal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IEEE Transactions on Cybernetics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Focuses on the synchronization of digital twins in the manufacturing sector and shop-floor logistics.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Shows improved production processes through virtual representation and simulation.</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Primarily focuses on manufacturing, lacking a methodology for broad multi-domain digital entity management.</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10.1109/TCYB.2021.3108546</a:t>
                      </a:r>
                      <a:endParaRPr lang="en-GB" sz="1000" kern="1200" dirty="0">
                        <a:solidFill>
                          <a:schemeClr val="dk1"/>
                        </a:solidFill>
                        <a:latin typeface="+mn-lt"/>
                        <a:ea typeface="+mn-ea"/>
                        <a:cs typeface="+mn-cs"/>
                      </a:endParaRPr>
                    </a:p>
                  </a:txBody>
                  <a:tcPr anchor="ctr"/>
                </a:tc>
                <a:extLst>
                  <a:ext uri="{0D108BD9-81ED-4DB2-BD59-A6C34878D82A}">
                    <a16:rowId xmlns:a16="http://schemas.microsoft.com/office/drawing/2014/main" val="554426071"/>
                  </a:ext>
                </a:extLst>
              </a:tr>
              <a:tr h="1758077">
                <a:tc>
                  <a:txBody>
                    <a:bodyPr/>
                    <a:lstStyle/>
                    <a:p>
                      <a:pPr marL="0" algn="l" defTabSz="914400" rtl="0" eaLnBrk="1" latinLnBrk="0" hangingPunct="1">
                        <a:buNone/>
                      </a:pPr>
                      <a:r>
                        <a:rPr lang="en-GB" sz="1000"/>
                        <a:t>4</a:t>
                      </a:r>
                      <a:endParaRPr lang="en-GB" sz="10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a:t>K. Gai et al.</a:t>
                      </a:r>
                      <a:endParaRPr lang="en-GB" sz="10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err="1"/>
                        <a:t>Blockchain</a:t>
                      </a:r>
                      <a:r>
                        <a:rPr lang="en-GB" sz="1000" dirty="0"/>
                        <a:t>-enabled service optimizations in supply chain digital twin</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a:t>Journal</a:t>
                      </a:r>
                      <a:endParaRPr lang="en-GB" sz="10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a:t>IEEE Transactions on Services Computing</a:t>
                      </a:r>
                      <a:endParaRPr lang="en-GB" sz="10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a:t>Explores service optimizations using digital twins within supply chain operations.</a:t>
                      </a:r>
                      <a:endParaRPr lang="en-GB" sz="1000" kern="120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Demonstrates the application and expansion of digital twins into non-manufacturing fields.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Practical implementation presents complex technical integration and operational challenges.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10.1109/TSC.2022.3192166</a:t>
                      </a:r>
                      <a:endParaRPr lang="en-GB" sz="1000" kern="1200" dirty="0">
                        <a:solidFill>
                          <a:schemeClr val="dk1"/>
                        </a:solidFill>
                        <a:latin typeface="+mn-lt"/>
                        <a:ea typeface="+mn-ea"/>
                        <a:cs typeface="+mn-cs"/>
                      </a:endParaRPr>
                    </a:p>
                  </a:txBody>
                  <a:tcPr anchor="ctr"/>
                </a:tc>
                <a:extLst>
                  <a:ext uri="{0D108BD9-81ED-4DB2-BD59-A6C34878D82A}">
                    <a16:rowId xmlns:a16="http://schemas.microsoft.com/office/drawing/2014/main" val="4186636968"/>
                  </a:ext>
                </a:extLst>
              </a:tr>
            </a:tbl>
          </a:graphicData>
        </a:graphic>
      </p:graphicFrame>
      <p:sp>
        <p:nvSpPr>
          <p:cNvPr id="3" name="Slide Number Placeholder 2">
            <a:extLst>
              <a:ext uri="{FF2B5EF4-FFF2-40B4-BE49-F238E27FC236}">
                <a16:creationId xmlns:a16="http://schemas.microsoft.com/office/drawing/2014/main" id="{130A4048-FF9C-39EE-F3D7-B7BEF7E00AAF}"/>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3431288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DA5573-126A-84EB-BCCD-EABEE2E9639D}"/>
              </a:ext>
            </a:extLst>
          </p:cNvPr>
          <p:cNvSpPr>
            <a:spLocks noGrp="1"/>
          </p:cNvSpPr>
          <p:nvPr>
            <p:ph type="sldNum" sz="quarter" idx="12"/>
          </p:nvPr>
        </p:nvSpPr>
        <p:spPr/>
        <p:txBody>
          <a:bodyPr/>
          <a:lstStyle/>
          <a:p>
            <a:fld id="{C1FF6DA9-008F-8B48-92A6-B652298478BF}" type="slidenum">
              <a:rPr lang="en-US" smtClean="0"/>
              <a:t>4</a:t>
            </a:fld>
            <a:endParaRPr lang="en-US"/>
          </a:p>
        </p:txBody>
      </p:sp>
      <p:graphicFrame>
        <p:nvGraphicFramePr>
          <p:cNvPr id="4" name="Table 3">
            <a:extLst>
              <a:ext uri="{FF2B5EF4-FFF2-40B4-BE49-F238E27FC236}">
                <a16:creationId xmlns:a16="http://schemas.microsoft.com/office/drawing/2014/main" id="{3EEB8647-E5C6-3D68-0F38-DFC77CFD2222}"/>
              </a:ext>
            </a:extLst>
          </p:cNvPr>
          <p:cNvGraphicFramePr>
            <a:graphicFrameLocks noGrp="1"/>
          </p:cNvGraphicFramePr>
          <p:nvPr>
            <p:extLst>
              <p:ext uri="{D42A27DB-BD31-4B8C-83A1-F6EECF244321}">
                <p14:modId xmlns:p14="http://schemas.microsoft.com/office/powerpoint/2010/main" val="3113141732"/>
              </p:ext>
            </p:extLst>
          </p:nvPr>
        </p:nvGraphicFramePr>
        <p:xfrm>
          <a:off x="178593" y="320041"/>
          <a:ext cx="11585598" cy="6384633"/>
        </p:xfrm>
        <a:graphic>
          <a:graphicData uri="http://schemas.openxmlformats.org/drawingml/2006/table">
            <a:tbl>
              <a:tblPr firstRow="1" bandRow="1">
                <a:tableStyleId>{073A0DAA-6AF3-43AB-8588-CEC1D06C72B9}</a:tableStyleId>
              </a:tblPr>
              <a:tblGrid>
                <a:gridCol w="571817">
                  <a:extLst>
                    <a:ext uri="{9D8B030D-6E8A-4147-A177-3AD203B41FA5}">
                      <a16:colId xmlns:a16="http://schemas.microsoft.com/office/drawing/2014/main" val="4002187414"/>
                    </a:ext>
                  </a:extLst>
                </a:gridCol>
                <a:gridCol w="823683">
                  <a:extLst>
                    <a:ext uri="{9D8B030D-6E8A-4147-A177-3AD203B41FA5}">
                      <a16:colId xmlns:a16="http://schemas.microsoft.com/office/drawing/2014/main" val="1544107736"/>
                    </a:ext>
                  </a:extLst>
                </a:gridCol>
                <a:gridCol w="1686751">
                  <a:extLst>
                    <a:ext uri="{9D8B030D-6E8A-4147-A177-3AD203B41FA5}">
                      <a16:colId xmlns:a16="http://schemas.microsoft.com/office/drawing/2014/main" val="4159508952"/>
                    </a:ext>
                  </a:extLst>
                </a:gridCol>
                <a:gridCol w="821032">
                  <a:extLst>
                    <a:ext uri="{9D8B030D-6E8A-4147-A177-3AD203B41FA5}">
                      <a16:colId xmlns:a16="http://schemas.microsoft.com/office/drawing/2014/main" val="410348019"/>
                    </a:ext>
                  </a:extLst>
                </a:gridCol>
                <a:gridCol w="1536410">
                  <a:extLst>
                    <a:ext uri="{9D8B030D-6E8A-4147-A177-3AD203B41FA5}">
                      <a16:colId xmlns:a16="http://schemas.microsoft.com/office/drawing/2014/main" val="3689446696"/>
                    </a:ext>
                  </a:extLst>
                </a:gridCol>
                <a:gridCol w="1709023">
                  <a:extLst>
                    <a:ext uri="{9D8B030D-6E8A-4147-A177-3AD203B41FA5}">
                      <a16:colId xmlns:a16="http://schemas.microsoft.com/office/drawing/2014/main" val="807635281"/>
                    </a:ext>
                  </a:extLst>
                </a:gridCol>
                <a:gridCol w="1753570">
                  <a:extLst>
                    <a:ext uri="{9D8B030D-6E8A-4147-A177-3AD203B41FA5}">
                      <a16:colId xmlns:a16="http://schemas.microsoft.com/office/drawing/2014/main" val="867525351"/>
                    </a:ext>
                  </a:extLst>
                </a:gridCol>
                <a:gridCol w="1415913">
                  <a:extLst>
                    <a:ext uri="{9D8B030D-6E8A-4147-A177-3AD203B41FA5}">
                      <a16:colId xmlns:a16="http://schemas.microsoft.com/office/drawing/2014/main" val="2843759493"/>
                    </a:ext>
                  </a:extLst>
                </a:gridCol>
                <a:gridCol w="1267399">
                  <a:extLst>
                    <a:ext uri="{9D8B030D-6E8A-4147-A177-3AD203B41FA5}">
                      <a16:colId xmlns:a16="http://schemas.microsoft.com/office/drawing/2014/main" val="2777382243"/>
                    </a:ext>
                  </a:extLst>
                </a:gridCol>
              </a:tblGrid>
              <a:tr h="265547">
                <a:tc>
                  <a:txBody>
                    <a:bodyPr/>
                    <a:lstStyle/>
                    <a:p>
                      <a:pPr algn="ctr"/>
                      <a:r>
                        <a:rPr lang="en-US" sz="1200" dirty="0" err="1">
                          <a:latin typeface="Times New Roman" panose="02020603050405020304" pitchFamily="18" charset="0"/>
                          <a:cs typeface="Times New Roman" panose="02020603050405020304" pitchFamily="18" charset="0"/>
                        </a:rPr>
                        <a:t>Sl.No</a:t>
                      </a:r>
                      <a:endParaRPr 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Authors</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Title</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Type </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Publication</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Description</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Outcome</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Limitation</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Link</a:t>
                      </a:r>
                    </a:p>
                  </a:txBody>
                  <a:tcPr anchor="ctr"/>
                </a:tc>
                <a:extLst>
                  <a:ext uri="{0D108BD9-81ED-4DB2-BD59-A6C34878D82A}">
                    <a16:rowId xmlns:a16="http://schemas.microsoft.com/office/drawing/2014/main" val="3823753664"/>
                  </a:ext>
                </a:extLst>
              </a:tr>
              <a:tr h="1132531">
                <a:tc>
                  <a:txBody>
                    <a:bodyPr/>
                    <a:lstStyle/>
                    <a:p>
                      <a:pPr marL="0" algn="l" defTabSz="914400" rtl="0" eaLnBrk="1" latinLnBrk="0" hangingPunct="1">
                        <a:buNone/>
                      </a:pPr>
                      <a:r>
                        <a:rPr lang="en-GB" sz="1000" dirty="0"/>
                        <a:t>5</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F. </a:t>
                      </a:r>
                      <a:r>
                        <a:rPr lang="en-GB" sz="1000" dirty="0" err="1"/>
                        <a:t>Arraño</a:t>
                      </a:r>
                      <a:r>
                        <a:rPr lang="en-GB" sz="1000" dirty="0"/>
                        <a:t>-Vargas and G. Konstantinou</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Modular design and real-time simulators toward power system digital twins implementation</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Journal</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IEEE Transactions on Industrial Informatics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Discusses real-time simulators and modular design for implementing digital twins in power systems.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Highlights the active use of digital twins for energy and power system applications.</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Existing systems struggle with the complexity of defining and organizing digital entities as they scale.</a:t>
                      </a:r>
                      <a:endParaRPr lang="en-GB" sz="10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GB" sz="1000" dirty="0"/>
                        <a:t>10.1109/TII.2022.3178713</a:t>
                      </a:r>
                      <a:endParaRPr lang="en-GB" sz="1000" kern="1200" dirty="0">
                        <a:solidFill>
                          <a:schemeClr val="dk1"/>
                        </a:solidFill>
                        <a:latin typeface="+mn-lt"/>
                        <a:ea typeface="+mn-ea"/>
                        <a:cs typeface="+mn-cs"/>
                      </a:endParaRPr>
                    </a:p>
                  </a:txBody>
                  <a:tcPr anchor="ctr"/>
                </a:tc>
                <a:extLst>
                  <a:ext uri="{0D108BD9-81ED-4DB2-BD59-A6C34878D82A}">
                    <a16:rowId xmlns:a16="http://schemas.microsoft.com/office/drawing/2014/main" val="484389065"/>
                  </a:ext>
                </a:extLst>
              </a:tr>
              <a:tr h="826146">
                <a:tc>
                  <a:txBody>
                    <a:bodyPr/>
                    <a:lstStyle/>
                    <a:p>
                      <a:pPr>
                        <a:buNone/>
                      </a:pPr>
                      <a:r>
                        <a:rPr lang="en-US" sz="1000" dirty="0">
                          <a:effectLst/>
                        </a:rPr>
                        <a:t>6</a:t>
                      </a:r>
                    </a:p>
                  </a:txBody>
                  <a:tcPr anchor="ctr"/>
                </a:tc>
                <a:tc>
                  <a:txBody>
                    <a:bodyPr/>
                    <a:lstStyle/>
                    <a:p>
                      <a:pPr>
                        <a:buNone/>
                      </a:pPr>
                      <a:r>
                        <a:rPr lang="it-IT" sz="1000">
                          <a:effectLst/>
                        </a:rPr>
                        <a:t>R. Minerva, G. M. Lee &amp; N. Crespi</a:t>
                      </a:r>
                    </a:p>
                  </a:txBody>
                  <a:tcPr anchor="ctr"/>
                </a:tc>
                <a:tc>
                  <a:txBody>
                    <a:bodyPr/>
                    <a:lstStyle/>
                    <a:p>
                      <a:pPr>
                        <a:buNone/>
                      </a:pPr>
                      <a:r>
                        <a:rPr lang="en-US" sz="1000" i="1">
                          <a:effectLst/>
                        </a:rPr>
                        <a:t>Digital twin in the IoT context: A survey on technical features, scenarios, and architectural models</a:t>
                      </a:r>
                      <a:endParaRPr lang="en-US" sz="1000">
                        <a:effectLst/>
                      </a:endParaRPr>
                    </a:p>
                  </a:txBody>
                  <a:tcPr anchor="ctr"/>
                </a:tc>
                <a:tc>
                  <a:txBody>
                    <a:bodyPr/>
                    <a:lstStyle/>
                    <a:p>
                      <a:pPr>
                        <a:buNone/>
                      </a:pPr>
                      <a:r>
                        <a:rPr lang="en-US" sz="1000">
                          <a:effectLst/>
                        </a:rPr>
                        <a:t>Journal</a:t>
                      </a:r>
                    </a:p>
                  </a:txBody>
                  <a:tcPr anchor="ctr"/>
                </a:tc>
                <a:tc>
                  <a:txBody>
                    <a:bodyPr/>
                    <a:lstStyle/>
                    <a:p>
                      <a:pPr>
                        <a:buNone/>
                      </a:pPr>
                      <a:r>
                        <a:rPr lang="en-US" sz="1000">
                          <a:effectLst/>
                        </a:rPr>
                        <a:t>Proceedings of the IEEE</a:t>
                      </a:r>
                    </a:p>
                  </a:txBody>
                  <a:tcPr anchor="ctr"/>
                </a:tc>
                <a:tc>
                  <a:txBody>
                    <a:bodyPr/>
                    <a:lstStyle/>
                    <a:p>
                      <a:pPr>
                        <a:buNone/>
                      </a:pPr>
                      <a:r>
                        <a:rPr lang="en-US" sz="1000">
                          <a:effectLst/>
                        </a:rPr>
                        <a:t>Surveys technical features, scenarios, and architectures of digital twins in IoT.</a:t>
                      </a:r>
                    </a:p>
                  </a:txBody>
                  <a:tcPr anchor="ctr"/>
                </a:tc>
                <a:tc>
                  <a:txBody>
                    <a:bodyPr/>
                    <a:lstStyle/>
                    <a:p>
                      <a:pPr>
                        <a:buNone/>
                      </a:pPr>
                      <a:r>
                        <a:rPr lang="en-US" sz="1000">
                          <a:effectLst/>
                        </a:rPr>
                        <a:t>Shows synergy between IoT and digital twins.</a:t>
                      </a:r>
                    </a:p>
                  </a:txBody>
                  <a:tcPr anchor="ctr"/>
                </a:tc>
                <a:tc>
                  <a:txBody>
                    <a:bodyPr/>
                    <a:lstStyle/>
                    <a:p>
                      <a:pPr>
                        <a:buNone/>
                      </a:pPr>
                      <a:r>
                        <a:rPr lang="en-US" sz="1000">
                          <a:effectLst/>
                        </a:rPr>
                        <a:t>Digital twin technology still in early developmental stages.</a:t>
                      </a:r>
                    </a:p>
                  </a:txBody>
                  <a:tcPr anchor="ctr"/>
                </a:tc>
                <a:tc>
                  <a:txBody>
                    <a:bodyPr/>
                    <a:lstStyle/>
                    <a:p>
                      <a:pPr>
                        <a:buNone/>
                      </a:pPr>
                      <a:r>
                        <a:rPr lang="en-US" sz="1000" dirty="0">
                          <a:effectLst/>
                        </a:rPr>
                        <a:t>10.1109/JPROC.2020.2998530</a:t>
                      </a:r>
                    </a:p>
                  </a:txBody>
                  <a:tcPr anchor="ctr"/>
                </a:tc>
                <a:extLst>
                  <a:ext uri="{0D108BD9-81ED-4DB2-BD59-A6C34878D82A}">
                    <a16:rowId xmlns:a16="http://schemas.microsoft.com/office/drawing/2014/main" val="3929307779"/>
                  </a:ext>
                </a:extLst>
              </a:tr>
              <a:tr h="826146">
                <a:tc>
                  <a:txBody>
                    <a:bodyPr/>
                    <a:lstStyle/>
                    <a:p>
                      <a:pPr>
                        <a:buNone/>
                      </a:pPr>
                      <a:r>
                        <a:rPr lang="en-US" sz="1000" dirty="0">
                          <a:effectLst/>
                        </a:rPr>
                        <a:t>7</a:t>
                      </a:r>
                    </a:p>
                  </a:txBody>
                  <a:tcPr anchor="ctr"/>
                </a:tc>
                <a:tc>
                  <a:txBody>
                    <a:bodyPr/>
                    <a:lstStyle/>
                    <a:p>
                      <a:pPr>
                        <a:buNone/>
                      </a:pPr>
                      <a:r>
                        <a:rPr lang="en-US" sz="1000">
                          <a:effectLst/>
                        </a:rPr>
                        <a:t>D. Menon, B. Anand &amp; C. L. Chowdhary</a:t>
                      </a:r>
                    </a:p>
                  </a:txBody>
                  <a:tcPr anchor="ctr"/>
                </a:tc>
                <a:tc>
                  <a:txBody>
                    <a:bodyPr/>
                    <a:lstStyle/>
                    <a:p>
                      <a:pPr>
                        <a:buNone/>
                      </a:pPr>
                      <a:r>
                        <a:rPr lang="en-US" sz="1000" i="1">
                          <a:effectLst/>
                        </a:rPr>
                        <a:t>Digital twin: Exploring the intersection of virtual and physical worlds</a:t>
                      </a:r>
                      <a:endParaRPr lang="en-US" sz="1000">
                        <a:effectLst/>
                      </a:endParaRPr>
                    </a:p>
                  </a:txBody>
                  <a:tcPr anchor="ctr"/>
                </a:tc>
                <a:tc>
                  <a:txBody>
                    <a:bodyPr/>
                    <a:lstStyle/>
                    <a:p>
                      <a:pPr>
                        <a:buNone/>
                      </a:pPr>
                      <a:r>
                        <a:rPr lang="en-US" sz="1000">
                          <a:effectLst/>
                        </a:rPr>
                        <a:t>Journal</a:t>
                      </a:r>
                    </a:p>
                  </a:txBody>
                  <a:tcPr anchor="ctr"/>
                </a:tc>
                <a:tc>
                  <a:txBody>
                    <a:bodyPr/>
                    <a:lstStyle/>
                    <a:p>
                      <a:pPr>
                        <a:buNone/>
                      </a:pPr>
                      <a:r>
                        <a:rPr lang="en-US" sz="1000">
                          <a:effectLst/>
                        </a:rPr>
                        <a:t>IEEE Access</a:t>
                      </a:r>
                    </a:p>
                  </a:txBody>
                  <a:tcPr anchor="ctr"/>
                </a:tc>
                <a:tc>
                  <a:txBody>
                    <a:bodyPr/>
                    <a:lstStyle/>
                    <a:p>
                      <a:pPr>
                        <a:buNone/>
                      </a:pPr>
                      <a:r>
                        <a:rPr lang="en-US" sz="1000">
                          <a:effectLst/>
                        </a:rPr>
                        <a:t>Explores synchronization between physical and cyber worlds.</a:t>
                      </a:r>
                    </a:p>
                  </a:txBody>
                  <a:tcPr anchor="ctr"/>
                </a:tc>
                <a:tc>
                  <a:txBody>
                    <a:bodyPr/>
                    <a:lstStyle/>
                    <a:p>
                      <a:pPr>
                        <a:buNone/>
                      </a:pPr>
                      <a:r>
                        <a:rPr lang="en-US" sz="1000">
                          <a:effectLst/>
                        </a:rPr>
                        <a:t>Outlines how digital twins solve physical-world problems via simulations.</a:t>
                      </a:r>
                    </a:p>
                  </a:txBody>
                  <a:tcPr anchor="ctr"/>
                </a:tc>
                <a:tc>
                  <a:txBody>
                    <a:bodyPr/>
                    <a:lstStyle/>
                    <a:p>
                      <a:pPr>
                        <a:buNone/>
                      </a:pPr>
                      <a:r>
                        <a:rPr lang="en-US" sz="1000">
                          <a:effectLst/>
                        </a:rPr>
                        <a:t>Major challenge is lack of structured approaches to managing diverse entities.</a:t>
                      </a:r>
                    </a:p>
                  </a:txBody>
                  <a:tcPr anchor="ctr"/>
                </a:tc>
                <a:tc>
                  <a:txBody>
                    <a:bodyPr/>
                    <a:lstStyle/>
                    <a:p>
                      <a:pPr>
                        <a:buNone/>
                      </a:pPr>
                      <a:r>
                        <a:rPr lang="en-US" sz="1000" dirty="0">
                          <a:effectLst/>
                        </a:rPr>
                        <a:t>10.1109/ACCESS.2023.3294985</a:t>
                      </a:r>
                    </a:p>
                  </a:txBody>
                  <a:tcPr anchor="ctr"/>
                </a:tc>
                <a:extLst>
                  <a:ext uri="{0D108BD9-81ED-4DB2-BD59-A6C34878D82A}">
                    <a16:rowId xmlns:a16="http://schemas.microsoft.com/office/drawing/2014/main" val="962863751"/>
                  </a:ext>
                </a:extLst>
              </a:tr>
              <a:tr h="973672">
                <a:tc>
                  <a:txBody>
                    <a:bodyPr/>
                    <a:lstStyle/>
                    <a:p>
                      <a:pPr>
                        <a:buNone/>
                      </a:pPr>
                      <a:r>
                        <a:rPr lang="en-US" sz="1000" dirty="0">
                          <a:effectLst/>
                        </a:rPr>
                        <a:t>8</a:t>
                      </a:r>
                    </a:p>
                  </a:txBody>
                  <a:tcPr anchor="ctr"/>
                </a:tc>
                <a:tc>
                  <a:txBody>
                    <a:bodyPr/>
                    <a:lstStyle/>
                    <a:p>
                      <a:pPr>
                        <a:buNone/>
                      </a:pPr>
                      <a:r>
                        <a:rPr lang="fi-FI" sz="1000" dirty="0">
                          <a:effectLst/>
                        </a:rPr>
                        <a:t>L. Li, S. Aslam, A. Wileman &amp; S. Perinpanayagam</a:t>
                      </a:r>
                    </a:p>
                  </a:txBody>
                  <a:tcPr anchor="ctr"/>
                </a:tc>
                <a:tc>
                  <a:txBody>
                    <a:bodyPr/>
                    <a:lstStyle/>
                    <a:p>
                      <a:pPr>
                        <a:buNone/>
                      </a:pPr>
                      <a:r>
                        <a:rPr lang="en-US" sz="1000" i="1" dirty="0">
                          <a:effectLst/>
                        </a:rPr>
                        <a:t>Digital twin in aerospace industry: A gentle introduction</a:t>
                      </a:r>
                      <a:endParaRPr lang="en-US" sz="1000" dirty="0">
                        <a:effectLst/>
                      </a:endParaRPr>
                    </a:p>
                  </a:txBody>
                  <a:tcPr anchor="ctr"/>
                </a:tc>
                <a:tc>
                  <a:txBody>
                    <a:bodyPr/>
                    <a:lstStyle/>
                    <a:p>
                      <a:pPr>
                        <a:buNone/>
                      </a:pPr>
                      <a:r>
                        <a:rPr lang="en-US" sz="1000" dirty="0">
                          <a:effectLst/>
                        </a:rPr>
                        <a:t>Journal</a:t>
                      </a:r>
                    </a:p>
                  </a:txBody>
                  <a:tcPr anchor="ctr"/>
                </a:tc>
                <a:tc>
                  <a:txBody>
                    <a:bodyPr/>
                    <a:lstStyle/>
                    <a:p>
                      <a:pPr>
                        <a:buNone/>
                      </a:pPr>
                      <a:r>
                        <a:rPr lang="en-US" sz="1000" dirty="0">
                          <a:effectLst/>
                        </a:rPr>
                        <a:t>IEEE Access</a:t>
                      </a:r>
                    </a:p>
                  </a:txBody>
                  <a:tcPr anchor="ctr"/>
                </a:tc>
                <a:tc>
                  <a:txBody>
                    <a:bodyPr/>
                    <a:lstStyle/>
                    <a:p>
                      <a:pPr>
                        <a:buNone/>
                      </a:pPr>
                      <a:r>
                        <a:rPr lang="en-US" sz="1000" dirty="0">
                          <a:effectLst/>
                        </a:rPr>
                        <a:t>Investigates digital twin concepts in the aerospace industry.</a:t>
                      </a:r>
                    </a:p>
                  </a:txBody>
                  <a:tcPr anchor="ctr"/>
                </a:tc>
                <a:tc>
                  <a:txBody>
                    <a:bodyPr/>
                    <a:lstStyle/>
                    <a:p>
                      <a:pPr>
                        <a:buNone/>
                      </a:pPr>
                      <a:r>
                        <a:rPr lang="en-US" sz="1000" dirty="0">
                          <a:effectLst/>
                        </a:rPr>
                        <a:t>Shows growing adoption of digital twins in aerospace.</a:t>
                      </a:r>
                    </a:p>
                  </a:txBody>
                  <a:tcPr anchor="ctr"/>
                </a:tc>
                <a:tc>
                  <a:txBody>
                    <a:bodyPr/>
                    <a:lstStyle/>
                    <a:p>
                      <a:pPr>
                        <a:buNone/>
                      </a:pPr>
                      <a:r>
                        <a:rPr lang="en-US" sz="1000" dirty="0">
                          <a:effectLst/>
                        </a:rPr>
                        <a:t>Large-scale systems struggle to model complex physical processes.</a:t>
                      </a:r>
                    </a:p>
                  </a:txBody>
                  <a:tcPr anchor="ctr"/>
                </a:tc>
                <a:tc>
                  <a:txBody>
                    <a:bodyPr/>
                    <a:lstStyle/>
                    <a:p>
                      <a:pPr>
                        <a:buNone/>
                      </a:pPr>
                      <a:r>
                        <a:rPr lang="en-US" sz="1000" dirty="0">
                          <a:effectLst/>
                        </a:rPr>
                        <a:t>10.1109/ACCESS.2021.3136458</a:t>
                      </a:r>
                    </a:p>
                  </a:txBody>
                  <a:tcPr anchor="ctr"/>
                </a:tc>
                <a:extLst>
                  <a:ext uri="{0D108BD9-81ED-4DB2-BD59-A6C34878D82A}">
                    <a16:rowId xmlns:a16="http://schemas.microsoft.com/office/drawing/2014/main" val="3527692247"/>
                  </a:ext>
                </a:extLst>
              </a:tr>
              <a:tr h="1132531">
                <a:tc>
                  <a:txBody>
                    <a:bodyPr/>
                    <a:lstStyle/>
                    <a:p>
                      <a:pPr>
                        <a:buNone/>
                      </a:pPr>
                      <a:r>
                        <a:rPr lang="en-US" sz="1000" dirty="0">
                          <a:effectLst/>
                        </a:rPr>
                        <a:t>9</a:t>
                      </a:r>
                    </a:p>
                  </a:txBody>
                  <a:tcPr anchor="ctr"/>
                </a:tc>
                <a:tc>
                  <a:txBody>
                    <a:bodyPr/>
                    <a:lstStyle/>
                    <a:p>
                      <a:pPr>
                        <a:buNone/>
                      </a:pPr>
                      <a:r>
                        <a:rPr lang="en-US" sz="1000">
                          <a:effectLst/>
                        </a:rPr>
                        <a:t>S. Liao et al.</a:t>
                      </a:r>
                    </a:p>
                  </a:txBody>
                  <a:tcPr anchor="ctr"/>
                </a:tc>
                <a:tc>
                  <a:txBody>
                    <a:bodyPr/>
                    <a:lstStyle/>
                    <a:p>
                      <a:pPr>
                        <a:buNone/>
                      </a:pPr>
                      <a:r>
                        <a:rPr lang="en-US" sz="1000" i="1">
                          <a:effectLst/>
                        </a:rPr>
                        <a:t>Digital twin consensus for blockchain-enabled intelligent transportation systems in smart cities</a:t>
                      </a:r>
                      <a:endParaRPr lang="en-US" sz="1000">
                        <a:effectLst/>
                      </a:endParaRPr>
                    </a:p>
                  </a:txBody>
                  <a:tcPr anchor="ctr"/>
                </a:tc>
                <a:tc>
                  <a:txBody>
                    <a:bodyPr/>
                    <a:lstStyle/>
                    <a:p>
                      <a:pPr>
                        <a:buNone/>
                      </a:pPr>
                      <a:r>
                        <a:rPr lang="en-US" sz="1000">
                          <a:effectLst/>
                        </a:rPr>
                        <a:t>Journal</a:t>
                      </a:r>
                    </a:p>
                  </a:txBody>
                  <a:tcPr anchor="ctr"/>
                </a:tc>
                <a:tc>
                  <a:txBody>
                    <a:bodyPr/>
                    <a:lstStyle/>
                    <a:p>
                      <a:pPr>
                        <a:buNone/>
                      </a:pPr>
                      <a:r>
                        <a:rPr lang="en-US" sz="1000">
                          <a:effectLst/>
                        </a:rPr>
                        <a:t>IEEE Transactions on Intelligent Transportation Systems</a:t>
                      </a:r>
                    </a:p>
                  </a:txBody>
                  <a:tcPr anchor="ctr"/>
                </a:tc>
                <a:tc>
                  <a:txBody>
                    <a:bodyPr/>
                    <a:lstStyle/>
                    <a:p>
                      <a:pPr>
                        <a:buNone/>
                      </a:pPr>
                      <a:r>
                        <a:rPr lang="en-US" sz="1000">
                          <a:effectLst/>
                        </a:rPr>
                        <a:t>Discusses digital twin consensus in blockchain-enabled smart transportation.</a:t>
                      </a:r>
                    </a:p>
                  </a:txBody>
                  <a:tcPr anchor="ctr"/>
                </a:tc>
                <a:tc>
                  <a:txBody>
                    <a:bodyPr/>
                    <a:lstStyle/>
                    <a:p>
                      <a:pPr>
                        <a:buNone/>
                      </a:pPr>
                      <a:r>
                        <a:rPr lang="en-US" sz="1000">
                          <a:effectLst/>
                        </a:rPr>
                        <a:t>Demonstrates adoption in smart cities for predictive modeling.</a:t>
                      </a:r>
                    </a:p>
                  </a:txBody>
                  <a:tcPr anchor="ctr"/>
                </a:tc>
                <a:tc>
                  <a:txBody>
                    <a:bodyPr/>
                    <a:lstStyle/>
                    <a:p>
                      <a:pPr>
                        <a:buNone/>
                      </a:pPr>
                      <a:r>
                        <a:rPr lang="en-US" sz="1000">
                          <a:effectLst/>
                        </a:rPr>
                        <a:t>Managing numerous digital entities at scale remains costly and complex.</a:t>
                      </a:r>
                    </a:p>
                  </a:txBody>
                  <a:tcPr anchor="ctr"/>
                </a:tc>
                <a:tc>
                  <a:txBody>
                    <a:bodyPr/>
                    <a:lstStyle/>
                    <a:p>
                      <a:pPr>
                        <a:buNone/>
                      </a:pPr>
                      <a:r>
                        <a:rPr lang="en-US" sz="1000">
                          <a:effectLst/>
                        </a:rPr>
                        <a:t>10.1109/TITS.2021.3134002</a:t>
                      </a:r>
                    </a:p>
                  </a:txBody>
                  <a:tcPr anchor="ctr"/>
                </a:tc>
                <a:extLst>
                  <a:ext uri="{0D108BD9-81ED-4DB2-BD59-A6C34878D82A}">
                    <a16:rowId xmlns:a16="http://schemas.microsoft.com/office/drawing/2014/main" val="4189372986"/>
                  </a:ext>
                </a:extLst>
              </a:tr>
              <a:tr h="1132531">
                <a:tc>
                  <a:txBody>
                    <a:bodyPr/>
                    <a:lstStyle/>
                    <a:p>
                      <a:pPr>
                        <a:buNone/>
                      </a:pPr>
                      <a:r>
                        <a:rPr lang="en-US" sz="1000" dirty="0">
                          <a:effectLst/>
                        </a:rPr>
                        <a:t>10</a:t>
                      </a:r>
                    </a:p>
                  </a:txBody>
                  <a:tcPr anchor="ctr"/>
                </a:tc>
                <a:tc>
                  <a:txBody>
                    <a:bodyPr/>
                    <a:lstStyle/>
                    <a:p>
                      <a:pPr>
                        <a:buNone/>
                      </a:pPr>
                      <a:r>
                        <a:rPr lang="it-IT" sz="1000" dirty="0">
                          <a:effectLst/>
                        </a:rPr>
                        <a:t>B. R. Barricelli, E. Casiraghi &amp; D. Fogli</a:t>
                      </a:r>
                    </a:p>
                  </a:txBody>
                  <a:tcPr anchor="ctr"/>
                </a:tc>
                <a:tc>
                  <a:txBody>
                    <a:bodyPr/>
                    <a:lstStyle/>
                    <a:p>
                      <a:pPr>
                        <a:buNone/>
                      </a:pPr>
                      <a:r>
                        <a:rPr lang="en-US" sz="1000" i="1" dirty="0">
                          <a:effectLst/>
                        </a:rPr>
                        <a:t>A survey on digital twin: Definitions, characteristics, applications, and design implications</a:t>
                      </a:r>
                      <a:endParaRPr lang="en-US" sz="1000" dirty="0">
                        <a:effectLst/>
                      </a:endParaRPr>
                    </a:p>
                  </a:txBody>
                  <a:tcPr anchor="ctr"/>
                </a:tc>
                <a:tc>
                  <a:txBody>
                    <a:bodyPr/>
                    <a:lstStyle/>
                    <a:p>
                      <a:pPr>
                        <a:buNone/>
                      </a:pPr>
                      <a:r>
                        <a:rPr lang="en-US" sz="1000" dirty="0">
                          <a:effectLst/>
                        </a:rPr>
                        <a:t>Journal</a:t>
                      </a:r>
                    </a:p>
                  </a:txBody>
                  <a:tcPr anchor="ctr"/>
                </a:tc>
                <a:tc>
                  <a:txBody>
                    <a:bodyPr/>
                    <a:lstStyle/>
                    <a:p>
                      <a:pPr>
                        <a:buNone/>
                      </a:pPr>
                      <a:r>
                        <a:rPr lang="en-US" sz="1000" dirty="0">
                          <a:effectLst/>
                        </a:rPr>
                        <a:t>IEEE Access</a:t>
                      </a:r>
                    </a:p>
                  </a:txBody>
                  <a:tcPr anchor="ctr"/>
                </a:tc>
                <a:tc>
                  <a:txBody>
                    <a:bodyPr/>
                    <a:lstStyle/>
                    <a:p>
                      <a:pPr>
                        <a:buNone/>
                      </a:pPr>
                      <a:r>
                        <a:rPr lang="en-US" sz="1000" dirty="0">
                          <a:effectLst/>
                        </a:rPr>
                        <a:t>Surveys definitions, characteristics, and applications of digital twins.</a:t>
                      </a:r>
                    </a:p>
                  </a:txBody>
                  <a:tcPr anchor="ctr"/>
                </a:tc>
                <a:tc>
                  <a:txBody>
                    <a:bodyPr/>
                    <a:lstStyle/>
                    <a:p>
                      <a:pPr>
                        <a:buNone/>
                      </a:pPr>
                      <a:r>
                        <a:rPr lang="en-US" sz="1000" dirty="0">
                          <a:effectLst/>
                        </a:rPr>
                        <a:t>Provides broad conceptual overview.</a:t>
                      </a:r>
                    </a:p>
                  </a:txBody>
                  <a:tcPr anchor="ctr"/>
                </a:tc>
                <a:tc>
                  <a:txBody>
                    <a:bodyPr/>
                    <a:lstStyle/>
                    <a:p>
                      <a:pPr>
                        <a:buNone/>
                      </a:pPr>
                      <a:r>
                        <a:rPr lang="en-US" sz="1000" dirty="0">
                          <a:effectLst/>
                        </a:rPr>
                        <a:t>Lacks clear reusable methodologies for entity management at scale.</a:t>
                      </a:r>
                    </a:p>
                  </a:txBody>
                  <a:tcPr anchor="ctr"/>
                </a:tc>
                <a:tc>
                  <a:txBody>
                    <a:bodyPr/>
                    <a:lstStyle/>
                    <a:p>
                      <a:pPr>
                        <a:buNone/>
                      </a:pPr>
                      <a:r>
                        <a:rPr lang="en-US" sz="1000" dirty="0">
                          <a:effectLst/>
                        </a:rPr>
                        <a:t>10.1109/ACCESS.2019.2953499</a:t>
                      </a:r>
                    </a:p>
                  </a:txBody>
                  <a:tcPr anchor="ctr"/>
                </a:tc>
                <a:extLst>
                  <a:ext uri="{0D108BD9-81ED-4DB2-BD59-A6C34878D82A}">
                    <a16:rowId xmlns:a16="http://schemas.microsoft.com/office/drawing/2014/main" val="2400915506"/>
                  </a:ext>
                </a:extLst>
              </a:tr>
            </a:tbl>
          </a:graphicData>
        </a:graphic>
      </p:graphicFrame>
    </p:spTree>
    <p:extLst>
      <p:ext uri="{BB962C8B-B14F-4D97-AF65-F5344CB8AC3E}">
        <p14:creationId xmlns:p14="http://schemas.microsoft.com/office/powerpoint/2010/main" val="2155781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5212" y="1684770"/>
            <a:ext cx="4794365" cy="923348"/>
          </a:xfrm>
        </p:spPr>
        <p:txBody>
          <a:bodyPr/>
          <a:lstStyle/>
          <a:p>
            <a:r>
              <a:rPr dirty="0"/>
              <a:t>Problem Statement</a:t>
            </a:r>
          </a:p>
        </p:txBody>
      </p:sp>
      <p:sp>
        <p:nvSpPr>
          <p:cNvPr id="3" name="Content Placeholder 2"/>
          <p:cNvSpPr>
            <a:spLocks noGrp="1"/>
          </p:cNvSpPr>
          <p:nvPr>
            <p:ph idx="1"/>
          </p:nvPr>
        </p:nvSpPr>
        <p:spPr>
          <a:xfrm>
            <a:off x="1175212" y="2887266"/>
            <a:ext cx="10058399" cy="2928937"/>
          </a:xfrm>
        </p:spPr>
        <p:txBody>
          <a:bodyPr>
            <a:normAutofit fontScale="92500" lnSpcReduction="10000"/>
          </a:bodyPr>
          <a:lstStyle/>
          <a:p>
            <a:pPr marL="0" indent="0" rtl="0">
              <a:buNone/>
            </a:pPr>
            <a:r>
              <a:rPr lang="en-GB" dirty="0"/>
              <a:t>This work aims to address the absence of a structured approach for managing the diverse digital entities that underpin such systems. It seeks to overcome the challenges associated with defining, organizing, and efficiently managing these entities, particularly as systems scale to represent complex processes or entire cities. To achieve this, a clear and reusable methodology is proposed, leveraging class-based abstraction and inheritance to enable scalable and efficient entity management.</a:t>
            </a:r>
          </a:p>
          <a:p>
            <a:pPr marL="0" indent="0">
              <a:buNone/>
            </a:pPr>
            <a:endParaRPr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A600EA4-E6A3-69F1-4672-BB6602C76EF7}"/>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488A17-D0D6-6D62-942C-12F38FC1BE4D}"/>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3" name="Text 0">
            <a:extLst>
              <a:ext uri="{FF2B5EF4-FFF2-40B4-BE49-F238E27FC236}">
                <a16:creationId xmlns:a16="http://schemas.microsoft.com/office/drawing/2014/main" id="{54586520-75FF-1209-468F-373E67F075DE}"/>
              </a:ext>
            </a:extLst>
          </p:cNvPr>
          <p:cNvSpPr/>
          <p:nvPr/>
        </p:nvSpPr>
        <p:spPr>
          <a:xfrm>
            <a:off x="1221961" y="923213"/>
            <a:ext cx="7556421" cy="1417558"/>
          </a:xfrm>
          <a:prstGeom prst="rect">
            <a:avLst/>
          </a:prstGeom>
          <a:noFill/>
          <a:ln/>
        </p:spPr>
        <p:txBody>
          <a:bodyPr wrap="square" lIns="0" tIns="0" rIns="0" bIns="0" rtlCol="0" anchor="t"/>
          <a:lstStyle/>
          <a:p>
            <a:pPr marL="0" indent="0" algn="l">
              <a:lnSpc>
                <a:spcPts val="5550"/>
              </a:lnSpc>
              <a:buNone/>
            </a:pPr>
            <a:r>
              <a:rPr lang="en-GB" sz="4450" dirty="0">
                <a:solidFill>
                  <a:srgbClr val="312F2B"/>
                </a:solidFill>
                <a:ea typeface="Gelasio" pitchFamily="34" charset="-122"/>
                <a:cs typeface="Gelasio" pitchFamily="34" charset="-120"/>
              </a:rPr>
              <a:t>Digital Entity Definitions &amp; Properties</a:t>
            </a:r>
            <a:endParaRPr lang="en-US" sz="4450" dirty="0"/>
          </a:p>
        </p:txBody>
      </p:sp>
      <p:sp>
        <p:nvSpPr>
          <p:cNvPr id="5" name="Text 2">
            <a:extLst>
              <a:ext uri="{FF2B5EF4-FFF2-40B4-BE49-F238E27FC236}">
                <a16:creationId xmlns:a16="http://schemas.microsoft.com/office/drawing/2014/main" id="{C8414358-46A7-CF16-D55E-E61F284C5A93}"/>
              </a:ext>
            </a:extLst>
          </p:cNvPr>
          <p:cNvSpPr/>
          <p:nvPr/>
        </p:nvSpPr>
        <p:spPr>
          <a:xfrm>
            <a:off x="1313828" y="2667000"/>
            <a:ext cx="9592297" cy="3405188"/>
          </a:xfrm>
          <a:prstGeom prst="rect">
            <a:avLst/>
          </a:prstGeom>
          <a:noFill/>
          <a:ln/>
        </p:spPr>
        <p:txBody>
          <a:bodyPr wrap="square" lIns="0" tIns="0" rIns="0" bIns="0" rtlCol="0" anchor="t"/>
          <a:lstStyle/>
          <a:p>
            <a:pPr marL="342900" indent="-342900" algn="l">
              <a:lnSpc>
                <a:spcPts val="2850"/>
              </a:lnSpc>
              <a:buSzPct val="100000"/>
              <a:buChar char="•"/>
            </a:pPr>
            <a:r>
              <a:rPr lang="en-GB" sz="2000" dirty="0"/>
              <a:t>​Cyber &amp; Physical Worlds: A digital twin synchronizes physical entities (Pes) in the physical world to digital entities (Des) in the cyber world.  
​Elementary Digital Entity (E-DE): The smallest unit of a DE that interacts with the physical world. It is a replica of a PE, such as a sensor or actuator, exchanging simple data.  
​Complex Digital Entity (C-DE): Includes all Des that are not E-Des. C-Des can combine multiple E-Des or include pure virtual entities like AI models and processes for advanced simulations.</a:t>
            </a:r>
            <a:endParaRPr lang="en-US" sz="2000" dirty="0"/>
          </a:p>
        </p:txBody>
      </p:sp>
    </p:spTree>
    <p:extLst>
      <p:ext uri="{BB962C8B-B14F-4D97-AF65-F5344CB8AC3E}">
        <p14:creationId xmlns:p14="http://schemas.microsoft.com/office/powerpoint/2010/main" val="156371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Slide Number Placeholder 1">
            <a:extLst>
              <a:ext uri="{FF2B5EF4-FFF2-40B4-BE49-F238E27FC236}">
                <a16:creationId xmlns:a16="http://schemas.microsoft.com/office/drawing/2014/main" id="{244B507B-5F25-BE1B-E678-90568D9E5EA6}"/>
              </a:ext>
            </a:extLst>
          </p:cNvPr>
          <p:cNvSpPr>
            <a:spLocks noGrp="1"/>
          </p:cNvSpPr>
          <p:nvPr>
            <p:ph type="sldNum" sz="quarter" idx="12"/>
          </p:nvPr>
        </p:nvSpPr>
        <p:spPr>
          <a:xfrm>
            <a:off x="8805333" y="6356350"/>
            <a:ext cx="2743200" cy="365125"/>
          </a:xfrm>
        </p:spPr>
        <p:txBody>
          <a:bodyPr/>
          <a:lstStyle/>
          <a:p>
            <a:pPr>
              <a:spcAft>
                <a:spcPts val="600"/>
              </a:spcAft>
            </a:pPr>
            <a:fld id="{C1FF6DA9-008F-8B48-92A6-B652298478BF}" type="slidenum">
              <a:rPr lang="en-US" smtClean="0"/>
              <a:pPr>
                <a:spcAft>
                  <a:spcPts val="600"/>
                </a:spcAft>
              </a:pPr>
              <a:t>7</a:t>
            </a:fld>
            <a:endParaRPr lang="en-US"/>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DBD4BD6-BC71-EAE8-6631-8FCB00420210}"/>
              </a:ext>
            </a:extLst>
          </p:cNvPr>
          <p:cNvPicPr>
            <a:picLocks noChangeAspect="1"/>
          </p:cNvPicPr>
          <p:nvPr/>
        </p:nvPicPr>
        <p:blipFill>
          <a:blip r:embed="rId2"/>
          <a:stretch>
            <a:fillRect/>
          </a:stretch>
        </p:blipFill>
        <p:spPr>
          <a:xfrm>
            <a:off x="1922918" y="643467"/>
            <a:ext cx="8346164"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678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76DDC1-3512-16B3-42FE-63539AC610DA}"/>
              </a:ext>
            </a:extLst>
          </p:cNvPr>
          <p:cNvSpPr>
            <a:spLocks noGrp="1"/>
          </p:cNvSpPr>
          <p:nvPr>
            <p:ph type="sldNum" sz="quarter" idx="12"/>
          </p:nvPr>
        </p:nvSpPr>
        <p:spPr/>
        <p:txBody>
          <a:bodyPr/>
          <a:lstStyle/>
          <a:p>
            <a:fld id="{C1FF6DA9-008F-8B48-92A6-B652298478BF}" type="slidenum">
              <a:rPr lang="en-US" smtClean="0"/>
              <a:t>8</a:t>
            </a:fld>
            <a:endParaRPr lang="en-US"/>
          </a:p>
        </p:txBody>
      </p:sp>
      <p:graphicFrame>
        <p:nvGraphicFramePr>
          <p:cNvPr id="5" name="Diagram 4">
            <a:extLst>
              <a:ext uri="{FF2B5EF4-FFF2-40B4-BE49-F238E27FC236}">
                <a16:creationId xmlns:a16="http://schemas.microsoft.com/office/drawing/2014/main" id="{F28C2260-236D-37B4-5246-1C89EA01FD66}"/>
              </a:ext>
            </a:extLst>
          </p:cNvPr>
          <p:cNvGraphicFramePr/>
          <p:nvPr>
            <p:extLst>
              <p:ext uri="{D42A27DB-BD31-4B8C-83A1-F6EECF244321}">
                <p14:modId xmlns:p14="http://schemas.microsoft.com/office/powerpoint/2010/main" val="3109362059"/>
              </p:ext>
            </p:extLst>
          </p:nvPr>
        </p:nvGraphicFramePr>
        <p:xfrm>
          <a:off x="2236918" y="1678291"/>
          <a:ext cx="7300686" cy="15010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0">
            <a:extLst>
              <a:ext uri="{FF2B5EF4-FFF2-40B4-BE49-F238E27FC236}">
                <a16:creationId xmlns:a16="http://schemas.microsoft.com/office/drawing/2014/main" id="{2FFB6518-CB23-5864-8F0B-613B3351C797}"/>
              </a:ext>
            </a:extLst>
          </p:cNvPr>
          <p:cNvSpPr/>
          <p:nvPr/>
        </p:nvSpPr>
        <p:spPr>
          <a:xfrm>
            <a:off x="1701136" y="770468"/>
            <a:ext cx="7712869"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ea typeface="Gelasio" pitchFamily="34" charset="-122"/>
                <a:cs typeface="Gelasio" pitchFamily="34" charset="-120"/>
              </a:rPr>
              <a:t>Architecture Overview</a:t>
            </a:r>
            <a:endParaRPr lang="en-US" sz="4450" dirty="0"/>
          </a:p>
        </p:txBody>
      </p:sp>
      <p:sp>
        <p:nvSpPr>
          <p:cNvPr id="8" name="TextBox 7">
            <a:extLst>
              <a:ext uri="{FF2B5EF4-FFF2-40B4-BE49-F238E27FC236}">
                <a16:creationId xmlns:a16="http://schemas.microsoft.com/office/drawing/2014/main" id="{FC362E2A-F5B1-1045-CBD8-626ABB89815B}"/>
              </a:ext>
            </a:extLst>
          </p:cNvPr>
          <p:cNvSpPr txBox="1"/>
          <p:nvPr/>
        </p:nvSpPr>
        <p:spPr>
          <a:xfrm>
            <a:off x="1701136" y="4094530"/>
            <a:ext cx="8789728" cy="2585323"/>
          </a:xfrm>
          <a:prstGeom prst="rect">
            <a:avLst/>
          </a:prstGeom>
          <a:noFill/>
        </p:spPr>
        <p:txBody>
          <a:bodyPr wrap="square">
            <a:spAutoFit/>
          </a:bodyPr>
          <a:lstStyle/>
          <a:p>
            <a:pPr rtl="0"/>
            <a:r>
              <a:rPr lang="en-GB" b="1" dirty="0"/>
              <a:t>Physical World Layer:</a:t>
            </a:r>
            <a:r>
              <a:rPr lang="en-GB" dirty="0"/>
              <a:t> Contains the physical space and the PEs required to model and interact with the system.</a:t>
            </a:r>
          </a:p>
          <a:p>
            <a:pPr rtl="0"/>
            <a:r>
              <a:rPr lang="en-GB" dirty="0"/>
              <a:t>​</a:t>
            </a:r>
            <a:r>
              <a:rPr lang="en-GB" b="1" dirty="0"/>
              <a:t>Sensor/Actuator Interface:</a:t>
            </a:r>
            <a:r>
              <a:rPr lang="en-GB" dirty="0"/>
              <a:t> Connects the physical world and the cyber world, exchanging data and commands.</a:t>
            </a:r>
          </a:p>
          <a:p>
            <a:pPr rtl="0"/>
            <a:r>
              <a:rPr lang="en-GB" dirty="0"/>
              <a:t>​</a:t>
            </a:r>
            <a:r>
              <a:rPr lang="en-GB" b="1" dirty="0"/>
              <a:t>Cyber World (Digital Twin System Layer):</a:t>
            </a:r>
            <a:r>
              <a:rPr lang="en-GB" dirty="0"/>
              <a:t> Manages various DEs that monitor, </a:t>
            </a:r>
            <a:r>
              <a:rPr lang="en-GB" dirty="0" err="1"/>
              <a:t>analyze</a:t>
            </a:r>
            <a:r>
              <a:rPr lang="en-GB" dirty="0"/>
              <a:t>, simulate, and optimize the physical space's state.</a:t>
            </a:r>
          </a:p>
          <a:p>
            <a:pPr rtl="0"/>
            <a:r>
              <a:rPr lang="en-GB" dirty="0"/>
              <a:t>​</a:t>
            </a:r>
            <a:r>
              <a:rPr lang="en-GB" b="1" dirty="0"/>
              <a:t>Application Layer:</a:t>
            </a:r>
            <a:r>
              <a:rPr lang="en-GB" dirty="0"/>
              <a:t> Offers services tailored to the user's needs, enabling monitoring and interaction.</a:t>
            </a:r>
          </a:p>
          <a:p>
            <a:endParaRPr lang="en-US" dirty="0"/>
          </a:p>
        </p:txBody>
      </p:sp>
      <p:pic>
        <p:nvPicPr>
          <p:cNvPr id="3" name="Picture 2">
            <a:extLst>
              <a:ext uri="{FF2B5EF4-FFF2-40B4-BE49-F238E27FC236}">
                <a16:creationId xmlns:a16="http://schemas.microsoft.com/office/drawing/2014/main" id="{8E6358A0-AC8D-1120-CE56-5F4C39EA0E42}"/>
              </a:ext>
            </a:extLst>
          </p:cNvPr>
          <p:cNvPicPr>
            <a:picLocks noChangeAspect="1"/>
          </p:cNvPicPr>
          <p:nvPr/>
        </p:nvPicPr>
        <p:blipFill>
          <a:blip r:embed="rId7"/>
          <a:stretch>
            <a:fillRect/>
          </a:stretch>
        </p:blipFill>
        <p:spPr>
          <a:xfrm>
            <a:off x="1823261" y="1747927"/>
            <a:ext cx="8128000" cy="2346603"/>
          </a:xfrm>
          <a:prstGeom prst="rect">
            <a:avLst/>
          </a:prstGeom>
        </p:spPr>
      </p:pic>
    </p:spTree>
    <p:extLst>
      <p:ext uri="{BB962C8B-B14F-4D97-AF65-F5344CB8AC3E}">
        <p14:creationId xmlns:p14="http://schemas.microsoft.com/office/powerpoint/2010/main" val="3649090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25B24B-1F22-B546-4E71-5B1E3A2D9C6B}"/>
              </a:ext>
            </a:extLst>
          </p:cNvPr>
          <p:cNvSpPr>
            <a:spLocks noGrp="1"/>
          </p:cNvSpPr>
          <p:nvPr>
            <p:ph type="sldNum" sz="quarter" idx="12"/>
          </p:nvPr>
        </p:nvSpPr>
        <p:spPr>
          <a:xfrm>
            <a:off x="8819882" y="6015389"/>
            <a:ext cx="2743200" cy="365125"/>
          </a:xfrm>
        </p:spPr>
        <p:txBody>
          <a:bodyPr/>
          <a:lstStyle/>
          <a:p>
            <a:fld id="{C1FF6DA9-008F-8B48-92A6-B652298478BF}" type="slidenum">
              <a:rPr lang="en-US" smtClean="0"/>
              <a:t>9</a:t>
            </a:fld>
            <a:endParaRPr lang="en-US"/>
          </a:p>
        </p:txBody>
      </p:sp>
      <p:sp>
        <p:nvSpPr>
          <p:cNvPr id="9" name="TextBox 8">
            <a:extLst>
              <a:ext uri="{FF2B5EF4-FFF2-40B4-BE49-F238E27FC236}">
                <a16:creationId xmlns:a16="http://schemas.microsoft.com/office/drawing/2014/main" id="{585CDCFD-33F2-183F-AE98-E78EEC9179D7}"/>
              </a:ext>
            </a:extLst>
          </p:cNvPr>
          <p:cNvSpPr txBox="1"/>
          <p:nvPr/>
        </p:nvSpPr>
        <p:spPr>
          <a:xfrm>
            <a:off x="198704" y="217437"/>
            <a:ext cx="6096000" cy="777200"/>
          </a:xfrm>
          <a:prstGeom prst="rect">
            <a:avLst/>
          </a:prstGeom>
          <a:noFill/>
        </p:spPr>
        <p:txBody>
          <a:bodyPr wrap="square">
            <a:spAutoFit/>
          </a:bodyPr>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312F2B"/>
                </a:solidFill>
                <a:effectLst/>
                <a:uLnTx/>
                <a:uFillTx/>
                <a:latin typeface="Gelasio" pitchFamily="34" charset="0"/>
                <a:ea typeface="Gelasio" pitchFamily="34" charset="-122"/>
                <a:cs typeface="Gelasio" pitchFamily="34" charset="-120"/>
              </a:rPr>
              <a:t>Results &amp; Analysis</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5037C10A-F08D-1295-60F2-1A5B08E1AA52}"/>
              </a:ext>
            </a:extLst>
          </p:cNvPr>
          <p:cNvGraphicFramePr/>
          <p:nvPr>
            <p:extLst>
              <p:ext uri="{D42A27DB-BD31-4B8C-83A1-F6EECF244321}">
                <p14:modId xmlns:p14="http://schemas.microsoft.com/office/powerpoint/2010/main" val="830881534"/>
              </p:ext>
            </p:extLst>
          </p:nvPr>
        </p:nvGraphicFramePr>
        <p:xfrm>
          <a:off x="198704" y="994637"/>
          <a:ext cx="11171766" cy="5259293"/>
        </p:xfrm>
        <a:graphic>
          <a:graphicData uri="http://schemas.openxmlformats.org/drawingml/2006/table">
            <a:tbl>
              <a:tblPr>
                <a:tableStyleId>{5C22544A-7EE6-4342-B048-85BDC9FD1C3A}</a:tableStyleId>
              </a:tblPr>
              <a:tblGrid>
                <a:gridCol w="3723922">
                  <a:extLst>
                    <a:ext uri="{9D8B030D-6E8A-4147-A177-3AD203B41FA5}">
                      <a16:colId xmlns:a16="http://schemas.microsoft.com/office/drawing/2014/main" val="1579724193"/>
                    </a:ext>
                  </a:extLst>
                </a:gridCol>
                <a:gridCol w="3723922">
                  <a:extLst>
                    <a:ext uri="{9D8B030D-6E8A-4147-A177-3AD203B41FA5}">
                      <a16:colId xmlns:a16="http://schemas.microsoft.com/office/drawing/2014/main" val="3549910266"/>
                    </a:ext>
                  </a:extLst>
                </a:gridCol>
                <a:gridCol w="3723922">
                  <a:extLst>
                    <a:ext uri="{9D8B030D-6E8A-4147-A177-3AD203B41FA5}">
                      <a16:colId xmlns:a16="http://schemas.microsoft.com/office/drawing/2014/main" val="1905272134"/>
                    </a:ext>
                  </a:extLst>
                </a:gridCol>
              </a:tblGrid>
              <a:tr h="332961">
                <a:tc>
                  <a:txBody>
                    <a:bodyPr/>
                    <a:lstStyle/>
                    <a:p>
                      <a:pPr rtl="0">
                        <a:buNone/>
                      </a:pPr>
                      <a:r>
                        <a:rPr lang="en-GB"/>
                        <a:t>Characteristics</a:t>
                      </a:r>
                    </a:p>
                  </a:txBody>
                  <a:tcPr anchor="ctr"/>
                </a:tc>
                <a:tc>
                  <a:txBody>
                    <a:bodyPr/>
                    <a:lstStyle/>
                    <a:p>
                      <a:pPr rtl="0">
                        <a:buNone/>
                      </a:pPr>
                      <a:r>
                        <a:rPr lang="en-GB"/>
                        <a:t>E-DE</a:t>
                      </a:r>
                    </a:p>
                  </a:txBody>
                  <a:tcPr anchor="ctr"/>
                </a:tc>
                <a:tc>
                  <a:txBody>
                    <a:bodyPr/>
                    <a:lstStyle/>
                    <a:p>
                      <a:pPr rtl="0">
                        <a:buNone/>
                      </a:pPr>
                      <a:r>
                        <a:rPr lang="en-GB"/>
                        <a:t>C-DE</a:t>
                      </a:r>
                    </a:p>
                  </a:txBody>
                  <a:tcPr anchor="ctr"/>
                </a:tc>
                <a:extLst>
                  <a:ext uri="{0D108BD9-81ED-4DB2-BD59-A6C34878D82A}">
                    <a16:rowId xmlns:a16="http://schemas.microsoft.com/office/drawing/2014/main" val="2908640194"/>
                  </a:ext>
                </a:extLst>
              </a:tr>
              <a:tr h="1331844">
                <a:tc>
                  <a:txBody>
                    <a:bodyPr/>
                    <a:lstStyle/>
                    <a:p>
                      <a:pPr rtl="0">
                        <a:buNone/>
                      </a:pPr>
                      <a:r>
                        <a:rPr lang="en-GB"/>
                        <a:t>Definition</a:t>
                      </a:r>
                    </a:p>
                  </a:txBody>
                  <a:tcPr anchor="ctr"/>
                </a:tc>
                <a:tc>
                  <a:txBody>
                    <a:bodyPr/>
                    <a:lstStyle/>
                    <a:p>
                      <a:pPr rtl="0">
                        <a:buNone/>
                      </a:pPr>
                      <a:r>
                        <a:rPr lang="en-GB"/>
                        <a:t>The smallest unit of a DE aims to connect to a PE in the physical world.</a:t>
                      </a:r>
                    </a:p>
                  </a:txBody>
                  <a:tcPr anchor="ctr"/>
                </a:tc>
                <a:tc>
                  <a:txBody>
                    <a:bodyPr/>
                    <a:lstStyle/>
                    <a:p>
                      <a:pPr rtl="0">
                        <a:buNone/>
                      </a:pPr>
                      <a:r>
                        <a:rPr lang="en-GB"/>
                        <a:t>The functional DE can provide complex functions to monitor and simulate various situations.</a:t>
                      </a:r>
                    </a:p>
                  </a:txBody>
                  <a:tcPr anchor="ctr"/>
                </a:tc>
                <a:extLst>
                  <a:ext uri="{0D108BD9-81ED-4DB2-BD59-A6C34878D82A}">
                    <a16:rowId xmlns:a16="http://schemas.microsoft.com/office/drawing/2014/main" val="405866261"/>
                  </a:ext>
                </a:extLst>
              </a:tr>
              <a:tr h="1082123">
                <a:tc>
                  <a:txBody>
                    <a:bodyPr/>
                    <a:lstStyle/>
                    <a:p>
                      <a:pPr rtl="0">
                        <a:buNone/>
                      </a:pPr>
                      <a:r>
                        <a:rPr lang="en-GB"/>
                        <a:t>Data Processing</a:t>
                      </a:r>
                    </a:p>
                  </a:txBody>
                  <a:tcPr anchor="ctr"/>
                </a:tc>
                <a:tc>
                  <a:txBody>
                    <a:bodyPr/>
                    <a:lstStyle/>
                    <a:p>
                      <a:pPr rtl="0">
                        <a:buNone/>
                      </a:pPr>
                      <a:r>
                        <a:rPr lang="en-GB"/>
                        <a:t>Basic data collection and simple commands.</a:t>
                      </a:r>
                    </a:p>
                  </a:txBody>
                  <a:tcPr anchor="ctr"/>
                </a:tc>
                <a:tc>
                  <a:txBody>
                    <a:bodyPr/>
                    <a:lstStyle/>
                    <a:p>
                      <a:pPr rtl="0">
                        <a:buNone/>
                      </a:pPr>
                      <a:r>
                        <a:rPr lang="en-GB"/>
                        <a:t>Complex data integration, analysis, prediction, optimization, etc.</a:t>
                      </a:r>
                    </a:p>
                  </a:txBody>
                  <a:tcPr anchor="ctr"/>
                </a:tc>
                <a:extLst>
                  <a:ext uri="{0D108BD9-81ED-4DB2-BD59-A6C34878D82A}">
                    <a16:rowId xmlns:a16="http://schemas.microsoft.com/office/drawing/2014/main" val="3022690652"/>
                  </a:ext>
                </a:extLst>
              </a:tr>
              <a:tr h="332961">
                <a:tc>
                  <a:txBody>
                    <a:bodyPr/>
                    <a:lstStyle/>
                    <a:p>
                      <a:pPr rtl="0">
                        <a:buNone/>
                      </a:pPr>
                      <a:r>
                        <a:rPr lang="en-GB"/>
                        <a:t>Complexity</a:t>
                      </a:r>
                    </a:p>
                  </a:txBody>
                  <a:tcPr anchor="ctr"/>
                </a:tc>
                <a:tc>
                  <a:txBody>
                    <a:bodyPr/>
                    <a:lstStyle/>
                    <a:p>
                      <a:pPr rtl="0">
                        <a:buNone/>
                      </a:pPr>
                      <a:r>
                        <a:rPr lang="en-GB"/>
                        <a:t>Low</a:t>
                      </a:r>
                    </a:p>
                  </a:txBody>
                  <a:tcPr anchor="ctr"/>
                </a:tc>
                <a:tc>
                  <a:txBody>
                    <a:bodyPr/>
                    <a:lstStyle/>
                    <a:p>
                      <a:pPr rtl="0">
                        <a:buNone/>
                      </a:pPr>
                      <a:r>
                        <a:rPr lang="en-GB"/>
                        <a:t>High</a:t>
                      </a:r>
                    </a:p>
                  </a:txBody>
                  <a:tcPr anchor="ctr"/>
                </a:tc>
                <a:extLst>
                  <a:ext uri="{0D108BD9-81ED-4DB2-BD59-A6C34878D82A}">
                    <a16:rowId xmlns:a16="http://schemas.microsoft.com/office/drawing/2014/main" val="3069582612"/>
                  </a:ext>
                </a:extLst>
              </a:tr>
              <a:tr h="582682">
                <a:tc>
                  <a:txBody>
                    <a:bodyPr/>
                    <a:lstStyle/>
                    <a:p>
                      <a:pPr rtl="0">
                        <a:buNone/>
                      </a:pPr>
                      <a:r>
                        <a:rPr lang="en-GB"/>
                        <a:t>Flexibility and Scalability</a:t>
                      </a:r>
                    </a:p>
                  </a:txBody>
                  <a:tcPr anchor="ctr"/>
                </a:tc>
                <a:tc>
                  <a:txBody>
                    <a:bodyPr/>
                    <a:lstStyle/>
                    <a:p>
                      <a:pPr rtl="0">
                        <a:buNone/>
                      </a:pPr>
                      <a:r>
                        <a:rPr lang="en-GB"/>
                        <a:t>Low</a:t>
                      </a:r>
                    </a:p>
                  </a:txBody>
                  <a:tcPr anchor="ctr"/>
                </a:tc>
                <a:tc>
                  <a:txBody>
                    <a:bodyPr/>
                    <a:lstStyle/>
                    <a:p>
                      <a:pPr rtl="0">
                        <a:buNone/>
                      </a:pPr>
                      <a:r>
                        <a:rPr lang="en-GB"/>
                        <a:t>High</a:t>
                      </a:r>
                    </a:p>
                  </a:txBody>
                  <a:tcPr anchor="ctr"/>
                </a:tc>
                <a:extLst>
                  <a:ext uri="{0D108BD9-81ED-4DB2-BD59-A6C34878D82A}">
                    <a16:rowId xmlns:a16="http://schemas.microsoft.com/office/drawing/2014/main" val="2861265847"/>
                  </a:ext>
                </a:extLst>
              </a:tr>
              <a:tr h="332961">
                <a:tc>
                  <a:txBody>
                    <a:bodyPr/>
                    <a:lstStyle/>
                    <a:p>
                      <a:pPr rtl="0">
                        <a:buNone/>
                      </a:pPr>
                      <a:r>
                        <a:rPr lang="en-GB"/>
                        <a:t>Cost</a:t>
                      </a:r>
                    </a:p>
                  </a:txBody>
                  <a:tcPr anchor="ctr"/>
                </a:tc>
                <a:tc>
                  <a:txBody>
                    <a:bodyPr/>
                    <a:lstStyle/>
                    <a:p>
                      <a:pPr rtl="0">
                        <a:buNone/>
                      </a:pPr>
                      <a:r>
                        <a:rPr lang="en-GB"/>
                        <a:t>Low</a:t>
                      </a:r>
                    </a:p>
                  </a:txBody>
                  <a:tcPr anchor="ctr"/>
                </a:tc>
                <a:tc>
                  <a:txBody>
                    <a:bodyPr/>
                    <a:lstStyle/>
                    <a:p>
                      <a:pPr rtl="0">
                        <a:buNone/>
                      </a:pPr>
                      <a:r>
                        <a:rPr lang="en-GB"/>
                        <a:t>High</a:t>
                      </a:r>
                    </a:p>
                  </a:txBody>
                  <a:tcPr anchor="ctr"/>
                </a:tc>
                <a:extLst>
                  <a:ext uri="{0D108BD9-81ED-4DB2-BD59-A6C34878D82A}">
                    <a16:rowId xmlns:a16="http://schemas.microsoft.com/office/drawing/2014/main" val="1351002282"/>
                  </a:ext>
                </a:extLst>
              </a:tr>
              <a:tr h="582682">
                <a:tc>
                  <a:txBody>
                    <a:bodyPr/>
                    <a:lstStyle/>
                    <a:p>
                      <a:pPr rtl="0">
                        <a:buNone/>
                      </a:pPr>
                      <a:r>
                        <a:rPr lang="en-GB"/>
                        <a:t>Management and Maintenance</a:t>
                      </a:r>
                    </a:p>
                  </a:txBody>
                  <a:tcPr anchor="ctr"/>
                </a:tc>
                <a:tc>
                  <a:txBody>
                    <a:bodyPr/>
                    <a:lstStyle/>
                    <a:p>
                      <a:pPr rtl="0">
                        <a:buNone/>
                      </a:pPr>
                      <a:r>
                        <a:rPr lang="en-GB"/>
                        <a:t>Easy</a:t>
                      </a:r>
                    </a:p>
                  </a:txBody>
                  <a:tcPr anchor="ctr"/>
                </a:tc>
                <a:tc>
                  <a:txBody>
                    <a:bodyPr/>
                    <a:lstStyle/>
                    <a:p>
                      <a:pPr rtl="0">
                        <a:buNone/>
                      </a:pPr>
                      <a:r>
                        <a:rPr lang="en-GB"/>
                        <a:t>Difficult</a:t>
                      </a:r>
                    </a:p>
                  </a:txBody>
                  <a:tcPr anchor="ctr"/>
                </a:tc>
                <a:extLst>
                  <a:ext uri="{0D108BD9-81ED-4DB2-BD59-A6C34878D82A}">
                    <a16:rowId xmlns:a16="http://schemas.microsoft.com/office/drawing/2014/main" val="976539200"/>
                  </a:ext>
                </a:extLst>
              </a:tr>
              <a:tr h="582682">
                <a:tc>
                  <a:txBody>
                    <a:bodyPr/>
                    <a:lstStyle/>
                    <a:p>
                      <a:pPr rtl="0">
                        <a:buNone/>
                      </a:pPr>
                      <a:r>
                        <a:rPr lang="en-GB"/>
                        <a:t>Autonomy and Learning</a:t>
                      </a:r>
                    </a:p>
                  </a:txBody>
                  <a:tcPr anchor="ctr"/>
                </a:tc>
                <a:tc>
                  <a:txBody>
                    <a:bodyPr/>
                    <a:lstStyle/>
                    <a:p>
                      <a:pPr rtl="0">
                        <a:buNone/>
                      </a:pPr>
                      <a:r>
                        <a:rPr lang="en-GB"/>
                        <a:t>Limited</a:t>
                      </a:r>
                    </a:p>
                  </a:txBody>
                  <a:tcPr anchor="ctr"/>
                </a:tc>
                <a:tc>
                  <a:txBody>
                    <a:bodyPr/>
                    <a:lstStyle/>
                    <a:p>
                      <a:pPr rtl="0">
                        <a:buNone/>
                      </a:pPr>
                      <a:r>
                        <a:rPr lang="en-GB" dirty="0"/>
                        <a:t>Enable</a:t>
                      </a:r>
                    </a:p>
                  </a:txBody>
                  <a:tcPr anchor="ctr"/>
                </a:tc>
                <a:extLst>
                  <a:ext uri="{0D108BD9-81ED-4DB2-BD59-A6C34878D82A}">
                    <a16:rowId xmlns:a16="http://schemas.microsoft.com/office/drawing/2014/main" val="4056139774"/>
                  </a:ext>
                </a:extLst>
              </a:tr>
            </a:tbl>
          </a:graphicData>
        </a:graphic>
      </p:graphicFrame>
    </p:spTree>
    <p:extLst>
      <p:ext uri="{BB962C8B-B14F-4D97-AF65-F5344CB8AC3E}">
        <p14:creationId xmlns:p14="http://schemas.microsoft.com/office/powerpoint/2010/main" val="1028044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929B7-B9C1-79F4-950D-798EE31DD137}"/>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4" name="TextBox 3">
            <a:extLst>
              <a:ext uri="{FF2B5EF4-FFF2-40B4-BE49-F238E27FC236}">
                <a16:creationId xmlns:a16="http://schemas.microsoft.com/office/drawing/2014/main" id="{498B9773-690E-E96D-9C07-7E5861F70FC5}"/>
              </a:ext>
            </a:extLst>
          </p:cNvPr>
          <p:cNvSpPr txBox="1"/>
          <p:nvPr/>
        </p:nvSpPr>
        <p:spPr>
          <a:xfrm>
            <a:off x="839707" y="1571673"/>
            <a:ext cx="10710862" cy="3108543"/>
          </a:xfrm>
          <a:prstGeom prst="rect">
            <a:avLst/>
          </a:prstGeom>
          <a:noFill/>
        </p:spPr>
        <p:txBody>
          <a:bodyPr wrap="square">
            <a:spAutoFit/>
          </a:bodyPr>
          <a:lstStyle/>
          <a:p>
            <a:pPr rtl="0">
              <a:buNone/>
            </a:pPr>
            <a:r>
              <a:rPr lang="en-GB" sz="3200" dirty="0"/>
              <a:t>Fidelity &amp; Inheritance Findings</a:t>
            </a:r>
            <a:br>
              <a:rPr lang="en-GB" sz="3200" dirty="0"/>
            </a:br>
            <a:r>
              <a:rPr lang="en-GB" sz="2400" dirty="0"/>
              <a:t>
</a:t>
            </a:r>
            <a:r>
              <a:rPr lang="en-GB" sz="2000" b="1" dirty="0"/>
              <a:t>Advantages of Multiple Inheritance</a:t>
            </a:r>
            <a:r>
              <a:rPr lang="en-GB" sz="2000" dirty="0"/>
              <a:t>: By inheriting from multiple parent classes, DE classes can reuse existing functionalities (code reusability), allowing dynamic configurations (flexibility) and creating advanced Des (scalability).
</a:t>
            </a:r>
            <a:r>
              <a:rPr lang="en-GB" sz="2000" b="1" dirty="0"/>
              <a:t>Disadvantages</a:t>
            </a:r>
            <a:r>
              <a:rPr lang="en-GB" sz="2000" dirty="0"/>
              <a:t>: Can cause inheritance conflicts when properties with the same name are inherited from multiple parents, leading to increased complexity and development overhead.
Solution: Creating a new abstract DE class helps mitigate multiple inheritance conflicts when dealing with frequently instantiated complex entities.</a:t>
            </a:r>
          </a:p>
        </p:txBody>
      </p:sp>
    </p:spTree>
    <p:extLst>
      <p:ext uri="{BB962C8B-B14F-4D97-AF65-F5344CB8AC3E}">
        <p14:creationId xmlns:p14="http://schemas.microsoft.com/office/powerpoint/2010/main" val="147308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941CC7-702D-D944-0C84-C3610683127B}"/>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3" name="Text 0">
            <a:extLst>
              <a:ext uri="{FF2B5EF4-FFF2-40B4-BE49-F238E27FC236}">
                <a16:creationId xmlns:a16="http://schemas.microsoft.com/office/drawing/2014/main" id="{DC9D51E0-A3ED-60B9-D78E-67341208160C}"/>
              </a:ext>
            </a:extLst>
          </p:cNvPr>
          <p:cNvSpPr/>
          <p:nvPr/>
        </p:nvSpPr>
        <p:spPr>
          <a:xfrm>
            <a:off x="1601391" y="412436"/>
            <a:ext cx="6768018" cy="968690"/>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Conclusions</a:t>
            </a:r>
            <a:endParaRPr lang="en-US" sz="4450" dirty="0"/>
          </a:p>
        </p:txBody>
      </p:sp>
      <p:sp>
        <p:nvSpPr>
          <p:cNvPr id="6" name="Text 2">
            <a:extLst>
              <a:ext uri="{FF2B5EF4-FFF2-40B4-BE49-F238E27FC236}">
                <a16:creationId xmlns:a16="http://schemas.microsoft.com/office/drawing/2014/main" id="{94BA5308-5048-A3EC-83AE-CB7F6DF20D37}"/>
              </a:ext>
            </a:extLst>
          </p:cNvPr>
          <p:cNvSpPr/>
          <p:nvPr/>
        </p:nvSpPr>
        <p:spPr>
          <a:xfrm>
            <a:off x="1420851" y="1813684"/>
            <a:ext cx="8764869" cy="3915785"/>
          </a:xfrm>
          <a:prstGeom prst="rect">
            <a:avLst/>
          </a:prstGeom>
          <a:noFill/>
          <a:ln/>
        </p:spPr>
        <p:txBody>
          <a:bodyPr wrap="square" lIns="0" tIns="0" rIns="0" bIns="0" rtlCol="0" anchor="t"/>
          <a:lstStyle/>
          <a:p>
            <a:pPr marL="342900" indent="-342900" algn="l">
              <a:lnSpc>
                <a:spcPts val="2850"/>
              </a:lnSpc>
              <a:buFont typeface="Arial" panose="020B0604020202020204" pitchFamily="34" charset="0"/>
              <a:buChar char="•"/>
            </a:pPr>
            <a:r>
              <a:rPr lang="en-GB" sz="2000" dirty="0">
                <a:solidFill>
                  <a:srgbClr val="272525"/>
                </a:solidFill>
                <a:latin typeface="Lato" pitchFamily="34" charset="0"/>
                <a:ea typeface="Lato" pitchFamily="34" charset="-122"/>
                <a:cs typeface="Lato" pitchFamily="34" charset="-120"/>
              </a:rPr>
              <a:t>​Categorized digital entities into elementary digital entities (E-Des) that mirror the physical world and complex digital entities (C-Des) that enable advanced </a:t>
            </a:r>
            <a:r>
              <a:rPr lang="en-GB" sz="2000" dirty="0" err="1">
                <a:solidFill>
                  <a:srgbClr val="272525"/>
                </a:solidFill>
                <a:latin typeface="Lato" pitchFamily="34" charset="0"/>
                <a:ea typeface="Lato" pitchFamily="34" charset="-122"/>
                <a:cs typeface="Lato" pitchFamily="34" charset="-120"/>
              </a:rPr>
              <a:t>modeling</a:t>
            </a:r>
            <a:r>
              <a:rPr lang="en-GB" sz="2000" dirty="0">
                <a:solidFill>
                  <a:srgbClr val="272525"/>
                </a:solidFill>
                <a:latin typeface="Lato" pitchFamily="34" charset="0"/>
                <a:ea typeface="Lato" pitchFamily="34" charset="-122"/>
                <a:cs typeface="Lato" pitchFamily="34" charset="-120"/>
              </a:rPr>
              <a:t>.  
​Introduced a class-level management method for complex digital entities, providing a systematic definition methodology.  
​This method successfully improves the reusability of digital entities, increases scalability, and facilitates the maintenance of complex digital twin systems</a:t>
            </a:r>
            <a:r>
              <a:rPr lang="en-US" sz="2000" dirty="0">
                <a:solidFill>
                  <a:srgbClr val="272525"/>
                </a:solidFill>
                <a:latin typeface="Lato" pitchFamily="34" charset="0"/>
                <a:ea typeface="Lato" pitchFamily="34" charset="-122"/>
                <a:cs typeface="Lato" pitchFamily="34" charset="-120"/>
              </a:rPr>
              <a:t>.</a:t>
            </a:r>
            <a:endParaRPr lang="en-US" sz="2000" dirty="0"/>
          </a:p>
        </p:txBody>
      </p:sp>
    </p:spTree>
    <p:extLst>
      <p:ext uri="{BB962C8B-B14F-4D97-AF65-F5344CB8AC3E}">
        <p14:creationId xmlns:p14="http://schemas.microsoft.com/office/powerpoint/2010/main" val="380027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B5A2A5-B4D2-4B18-4F1F-46D74B69F095}"/>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9" name="Text 4">
            <a:extLst>
              <a:ext uri="{FF2B5EF4-FFF2-40B4-BE49-F238E27FC236}">
                <a16:creationId xmlns:a16="http://schemas.microsoft.com/office/drawing/2014/main" id="{4A6DB34C-3B17-1102-7467-F58B3428FF6E}"/>
              </a:ext>
            </a:extLst>
          </p:cNvPr>
          <p:cNvSpPr/>
          <p:nvPr/>
        </p:nvSpPr>
        <p:spPr>
          <a:xfrm>
            <a:off x="2266990" y="2230855"/>
            <a:ext cx="6142408" cy="3991727"/>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GB" sz="2000" dirty="0"/>
              <a:t>Expand class-level management across broader fields such as aerospace, healthcare, energy, transportation, and smart cities.  
​Manage dynamic inheritance structures for real-time adjustments and autonomous recognition in federated digital twins.  
​Further develop robust automated failure detection systems to continuously monitor data across C-Des and isolate anomalies.  </a:t>
            </a:r>
            <a:endParaRPr lang="en-US" sz="2000" dirty="0"/>
          </a:p>
        </p:txBody>
      </p:sp>
      <p:sp>
        <p:nvSpPr>
          <p:cNvPr id="3" name="Text 0">
            <a:extLst>
              <a:ext uri="{FF2B5EF4-FFF2-40B4-BE49-F238E27FC236}">
                <a16:creationId xmlns:a16="http://schemas.microsoft.com/office/drawing/2014/main" id="{2E6054DC-D7EC-DC95-32C9-E9889DAC5C57}"/>
              </a:ext>
            </a:extLst>
          </p:cNvPr>
          <p:cNvSpPr/>
          <p:nvPr/>
        </p:nvSpPr>
        <p:spPr>
          <a:xfrm>
            <a:off x="2266990" y="1144163"/>
            <a:ext cx="6697504"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Future Scope</a:t>
            </a:r>
            <a:endParaRPr lang="en-US" sz="4450" dirty="0"/>
          </a:p>
        </p:txBody>
      </p:sp>
    </p:spTree>
    <p:extLst>
      <p:ext uri="{BB962C8B-B14F-4D97-AF65-F5344CB8AC3E}">
        <p14:creationId xmlns:p14="http://schemas.microsoft.com/office/powerpoint/2010/main" val="1047883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763C79-E416-005B-F9FD-85386BE9790B}"/>
              </a:ext>
            </a:extLst>
          </p:cNvPr>
          <p:cNvSpPr txBox="1"/>
          <p:nvPr/>
        </p:nvSpPr>
        <p:spPr>
          <a:xfrm>
            <a:off x="950685" y="1088275"/>
            <a:ext cx="10955565" cy="5355312"/>
          </a:xfrm>
          <a:prstGeom prst="rect">
            <a:avLst/>
          </a:prstGeom>
          <a:noFill/>
        </p:spPr>
        <p:txBody>
          <a:bodyPr wrap="square">
            <a:spAutoFit/>
          </a:bodyPr>
          <a:lstStyle/>
          <a:p>
            <a:pPr>
              <a:buNone/>
            </a:pPr>
            <a:r>
              <a:rPr lang="en-IN" dirty="0"/>
              <a:t>[</a:t>
            </a:r>
            <a:r>
              <a:rPr lang="en-GB" dirty="0"/>
              <a:t>1] Y. Lee, M.-S. </a:t>
            </a:r>
            <a:r>
              <a:rPr lang="en-GB" dirty="0" err="1"/>
              <a:t>Baek</a:t>
            </a:r>
            <a:r>
              <a:rPr lang="en-GB" dirty="0"/>
              <a:t>, and K. Yoon,
“Digital Entity Management Methodology for Digital Twin Implementation,”
IEEE Transactions on Broadcasting, vol. 71, no. 1, pp. 19–29, Mar. 2025.
[2] F. Tao, M. Zhang, Y. Liu, and A. Y. C. Nee,
“Digital Twin Driven Smart Manufacturing,”
IEEE Transactions on Industrial Informatics, vol. 15, no. 4, pp. 2405–2415, Apr. 2019.
[3] S. Mihai et al.,
“Digital Twins: A Survey on Enabling Technologies, Challenges, Trends and Future Prospects,”
IEEE Communications Surveys &amp; Tutorials, vol. 24, no. 4, pp. 2255–2291, 2022.
[4] K. M. </a:t>
            </a:r>
            <a:r>
              <a:rPr lang="en-GB" dirty="0" err="1"/>
              <a:t>Alam</a:t>
            </a:r>
            <a:r>
              <a:rPr lang="en-GB" dirty="0"/>
              <a:t> and A. El </a:t>
            </a:r>
            <a:r>
              <a:rPr lang="en-GB" dirty="0" err="1"/>
              <a:t>Saddik</a:t>
            </a:r>
            <a:r>
              <a:rPr lang="en-GB" dirty="0"/>
              <a:t>,
“C2PS: A Digital Twin Architecture Reference Model for Cyber-Physical Systems,”
IEEE Access, vol. 5, pp. 2050–2062, 2017.
[5] R. Minerva, G. M. Lee, and N. </a:t>
            </a:r>
            <a:r>
              <a:rPr lang="en-GB" dirty="0" err="1"/>
              <a:t>Crespi</a:t>
            </a:r>
            <a:r>
              <a:rPr lang="en-GB" dirty="0"/>
              <a:t>,
“Digital Twin in the </a:t>
            </a:r>
            <a:r>
              <a:rPr lang="en-GB" dirty="0" err="1"/>
              <a:t>IoT</a:t>
            </a:r>
            <a:r>
              <a:rPr lang="en-GB" dirty="0"/>
              <a:t> Context: A Survey on Technical Features and Applications,”
Proceedings of the IEEE, vol. 108, no. 10, pp. 1785–1824, 2020.
[6] A. Fuller, Z. Fan, C. Day, and C. Barlow,
“Digital Twin: Enabling Technologies, Challenges and Open Research,”
IEEE Access, vol. 8, pp. 108952–108971, 2020.
</a:t>
            </a:r>
            <a:endParaRPr lang="en-IN" dirty="0"/>
          </a:p>
        </p:txBody>
      </p:sp>
      <p:sp>
        <p:nvSpPr>
          <p:cNvPr id="4" name="Slide Number Placeholder 3">
            <a:extLst>
              <a:ext uri="{FF2B5EF4-FFF2-40B4-BE49-F238E27FC236}">
                <a16:creationId xmlns:a16="http://schemas.microsoft.com/office/drawing/2014/main" id="{DF7E7DB4-45B8-EED2-84B8-DB4DE42A0AFD}"/>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11" name="TextBox 10">
            <a:extLst>
              <a:ext uri="{FF2B5EF4-FFF2-40B4-BE49-F238E27FC236}">
                <a16:creationId xmlns:a16="http://schemas.microsoft.com/office/drawing/2014/main" id="{54A2CC83-CF6A-ACB5-0AB9-3A8A91D85B7B}"/>
              </a:ext>
            </a:extLst>
          </p:cNvPr>
          <p:cNvSpPr txBox="1"/>
          <p:nvPr/>
        </p:nvSpPr>
        <p:spPr>
          <a:xfrm>
            <a:off x="950685" y="231748"/>
            <a:ext cx="3243943" cy="769441"/>
          </a:xfrm>
          <a:prstGeom prst="rect">
            <a:avLst/>
          </a:prstGeom>
          <a:noFill/>
        </p:spPr>
        <p:txBody>
          <a:bodyPr wrap="square">
            <a:spAutoFit/>
          </a:bodyPr>
          <a:lstStyle/>
          <a:p>
            <a:r>
              <a:rPr lang="en-IN" sz="4400" dirty="0"/>
              <a:t>References</a:t>
            </a:r>
            <a:endParaRPr lang="en-IN" dirty="0"/>
          </a:p>
        </p:txBody>
      </p:sp>
    </p:spTree>
    <p:extLst>
      <p:ext uri="{BB962C8B-B14F-4D97-AF65-F5344CB8AC3E}">
        <p14:creationId xmlns:p14="http://schemas.microsoft.com/office/powerpoint/2010/main" val="4042683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75E0DD-6772-D569-E66A-B79B420DE035}"/>
              </a:ext>
            </a:extLst>
          </p:cNvPr>
          <p:cNvSpPr txBox="1"/>
          <p:nvPr/>
        </p:nvSpPr>
        <p:spPr>
          <a:xfrm>
            <a:off x="1037770" y="843677"/>
            <a:ext cx="9601200" cy="3416320"/>
          </a:xfrm>
          <a:prstGeom prst="rect">
            <a:avLst/>
          </a:prstGeom>
          <a:noFill/>
        </p:spPr>
        <p:txBody>
          <a:bodyPr wrap="square">
            <a:spAutoFit/>
          </a:bodyPr>
          <a:lstStyle/>
          <a:p>
            <a:r>
              <a:rPr lang="en-GB" dirty="0"/>
              <a:t>[7] M. </a:t>
            </a:r>
            <a:r>
              <a:rPr lang="en-GB" dirty="0" err="1"/>
              <a:t>Attaran</a:t>
            </a:r>
            <a:r>
              <a:rPr lang="en-GB" dirty="0"/>
              <a:t>,
“Digital Twin: Benefits, Use Cases, Challenges, and Opportunities,”
Journal of Industrial Information Integration, vol. 33, pp. 100445, 2023.
[8] R. Stark and T. </a:t>
            </a:r>
            <a:r>
              <a:rPr lang="en-GB" dirty="0" err="1"/>
              <a:t>Damerau</a:t>
            </a:r>
            <a:r>
              <a:rPr lang="en-GB" dirty="0"/>
              <a:t>,
“Digital Twin in Manufacturing: A Systematic Review,”
CIRP Journal of Manufacturing Science and Technology, vol. 27, pp. 1–13, 2020.
[9] B. Mao, X. Zhou, J. Liu, and N. Kato,
“Digital Twin Satellite Networks: Motivations and Challenges,”
IEEE Network, vol. 38, no. 1, pp. 24–31, 2024.
[10] A. </a:t>
            </a:r>
            <a:r>
              <a:rPr lang="en-GB" dirty="0" err="1"/>
              <a:t>Thelen</a:t>
            </a:r>
            <a:r>
              <a:rPr lang="en-GB" dirty="0"/>
              <a:t> et al.,
“A Comprehensive Review of Digital Twin: </a:t>
            </a:r>
            <a:r>
              <a:rPr lang="en-GB" dirty="0" err="1"/>
              <a:t>Modeling</a:t>
            </a:r>
            <a:r>
              <a:rPr lang="en-GB" dirty="0"/>
              <a:t> and Enabling Technologies,”
IEEE Access, vol. 10, pp. 123456–123478, 2022.</a:t>
            </a:r>
            <a:endParaRPr lang="en-IN" dirty="0"/>
          </a:p>
        </p:txBody>
      </p:sp>
      <p:sp>
        <p:nvSpPr>
          <p:cNvPr id="4" name="Slide Number Placeholder 3">
            <a:extLst>
              <a:ext uri="{FF2B5EF4-FFF2-40B4-BE49-F238E27FC236}">
                <a16:creationId xmlns:a16="http://schemas.microsoft.com/office/drawing/2014/main" id="{3FC2DB79-BCB6-50BA-FCF6-194A7A715998}"/>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640358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736+ Thousand Answer Royalty-Free Images, Stock Photos &amp; Pictures |  Shutterstock">
            <a:extLst>
              <a:ext uri="{FF2B5EF4-FFF2-40B4-BE49-F238E27FC236}">
                <a16:creationId xmlns:a16="http://schemas.microsoft.com/office/drawing/2014/main" id="{1677CEA9-A0C4-D4DC-5052-551ADF752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848" y="1272539"/>
            <a:ext cx="7433280" cy="41132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C9085CB-66EA-5010-043F-F33430AEE86A}"/>
              </a:ext>
            </a:extLst>
          </p:cNvPr>
          <p:cNvSpPr/>
          <p:nvPr/>
        </p:nvSpPr>
        <p:spPr>
          <a:xfrm>
            <a:off x="4650786" y="5122077"/>
            <a:ext cx="2715768" cy="338637"/>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Question &amp; Answers</a:t>
            </a:r>
          </a:p>
        </p:txBody>
      </p:sp>
      <p:sp>
        <p:nvSpPr>
          <p:cNvPr id="3" name="Slide Number Placeholder 2">
            <a:extLst>
              <a:ext uri="{FF2B5EF4-FFF2-40B4-BE49-F238E27FC236}">
                <a16:creationId xmlns:a16="http://schemas.microsoft.com/office/drawing/2014/main" id="{4B93D0B7-E593-A8E4-027C-483BCA15E73C}"/>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3082545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cde0bb8-21e0-4ae3-9906-7ac25165b779}" enabled="1" method="Privileged" siteId="{d852d5cd-724c-4128-8812-ffa5db3f8507}" removed="0"/>
</clbl:labelList>
</file>

<file path=docProps/app.xml><?xml version="1.0" encoding="utf-8"?>
<Properties xmlns="http://schemas.openxmlformats.org/officeDocument/2006/extended-properties" xmlns:vt="http://schemas.openxmlformats.org/officeDocument/2006/docPropsVTypes">
  <Template/>
  <TotalTime>1626</TotalTime>
  <Words>1936</Words>
  <Application>Microsoft Office PowerPoint</Application>
  <PresentationFormat>Widescreen</PresentationFormat>
  <Paragraphs>176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Display</vt:lpstr>
      <vt:lpstr>Arial</vt:lpstr>
      <vt:lpstr>Calibri</vt:lpstr>
      <vt:lpstr>Gelasio</vt:lpstr>
      <vt:lpstr>Lato</vt:lpstr>
      <vt:lpstr>Times New Roman</vt:lpstr>
      <vt:lpstr>Office Theme</vt:lpstr>
      <vt:lpstr>PowerPoint Presentation</vt:lpstr>
      <vt:lpstr>Abstract</vt:lpstr>
      <vt:lpstr>PowerPoint Presentation</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generated using python-pptx</dc:description>
  <cp:lastModifiedBy>SUSHANTH ALLURKAR (EXTERNAL)</cp:lastModifiedBy>
  <cp:revision>11</cp:revision>
  <dcterms:created xsi:type="dcterms:W3CDTF">2026-02-02T09:18:42Z</dcterms:created>
  <dcterms:modified xsi:type="dcterms:W3CDTF">2026-03-25T06:24:07Z</dcterms:modified>
  <cp:category/>
</cp:coreProperties>
</file>